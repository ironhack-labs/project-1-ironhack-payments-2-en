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6"/>
  </p:notesMasterIdLst>
  <p:handoutMasterIdLst>
    <p:handoutMasterId r:id="rId17"/>
  </p:handoutMasterIdLst>
  <p:sldIdLst>
    <p:sldId id="410" r:id="rId5"/>
    <p:sldId id="383" r:id="rId6"/>
    <p:sldId id="391" r:id="rId7"/>
    <p:sldId id="413" r:id="rId8"/>
    <p:sldId id="408" r:id="rId9"/>
    <p:sldId id="412" r:id="rId10"/>
    <p:sldId id="411" r:id="rId11"/>
    <p:sldId id="405" r:id="rId12"/>
    <p:sldId id="414" r:id="rId13"/>
    <p:sldId id="407" r:id="rId14"/>
    <p:sldId id="39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106" d="100"/>
          <a:sy n="106" d="100"/>
        </p:scale>
        <p:origin x="792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8/1/2025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8/1/2025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5C737-07C5-102F-5758-F342E0CEE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4BF869-F32E-A861-063C-AECBEA131E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7FDDD2-24C2-A5C6-A72C-CF584F4E2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15909-F74A-CF98-B2D7-F94660991A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3486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B46AF-EBEA-647A-1554-91207273A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6527E1-AEEA-7172-F574-AFE50D8E3D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65631E-57C1-AF03-5885-395514A55E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5C46B0-4CEB-4737-F69E-29A76CE305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8664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68AB4-A2CE-7C40-C5A2-8B35F5668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CFD13E-A00C-99AC-8FCE-C4565220C3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0244EB-E918-D9B3-947C-847E3CC9A4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C31729-A75B-8FA7-5EA1-6AC8E8BCC0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0398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2331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698AE-95EB-116A-49FA-506BA3C00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E3EB9B-984E-D5F0-E734-82E4249C8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F26445-5211-7A46-39FB-44BCA79DE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812405-76FA-D484-0AE8-9061DC7330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2742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1604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zh-TW" altLang="en-US"/>
              <a:t>按一下圖示以新增表格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54;p13">
            <a:extLst>
              <a:ext uri="{FF2B5EF4-FFF2-40B4-BE49-F238E27FC236}">
                <a16:creationId xmlns:a16="http://schemas.microsoft.com/office/drawing/2014/main" id="{498FCFED-6897-3C43-40AB-D1B0576E78E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115" y="919404"/>
            <a:ext cx="5695579" cy="501919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55;p13">
            <a:extLst>
              <a:ext uri="{FF2B5EF4-FFF2-40B4-BE49-F238E27FC236}">
                <a16:creationId xmlns:a16="http://schemas.microsoft.com/office/drawing/2014/main" id="{690CA905-E182-4631-0F8B-06FAC9BFEEC3}"/>
              </a:ext>
            </a:extLst>
          </p:cNvPr>
          <p:cNvSpPr txBox="1"/>
          <p:nvPr/>
        </p:nvSpPr>
        <p:spPr>
          <a:xfrm>
            <a:off x="6749987" y="2030309"/>
            <a:ext cx="4213759" cy="139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200">
                <a:solidFill>
                  <a:srgbClr val="C00000"/>
                </a:solidFill>
              </a:rPr>
              <a:t>N</a:t>
            </a:r>
            <a:r>
              <a:rPr lang="en-US" sz="3200">
                <a:solidFill>
                  <a:schemeClr val="bg2">
                    <a:lumMod val="25000"/>
                  </a:schemeClr>
                </a:solidFill>
              </a:rPr>
              <a:t>atalia (</a:t>
            </a:r>
            <a:r>
              <a:rPr lang="en-US" sz="3200" dirty="0">
                <a:solidFill>
                  <a:schemeClr val="bg2">
                    <a:lumMod val="25000"/>
                  </a:schemeClr>
                </a:solidFill>
              </a:rPr>
              <a:t>the boss)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 dirty="0">
                <a:solidFill>
                  <a:srgbClr val="C00000"/>
                </a:solidFill>
              </a:rPr>
              <a:t>S</a:t>
            </a:r>
            <a:r>
              <a:rPr lang="es" sz="3200" dirty="0">
                <a:solidFill>
                  <a:schemeClr val="bg2">
                    <a:lumMod val="25000"/>
                  </a:schemeClr>
                </a:solidFill>
              </a:rPr>
              <a:t>ergio</a:t>
            </a:r>
          </a:p>
          <a:p>
            <a:pPr lvl="0"/>
            <a:r>
              <a:rPr lang="en-US" sz="3200" dirty="0">
                <a:solidFill>
                  <a:srgbClr val="C00000"/>
                </a:solidFill>
              </a:rPr>
              <a:t>N</a:t>
            </a:r>
            <a:r>
              <a:rPr lang="en-US" sz="3200" dirty="0">
                <a:solidFill>
                  <a:schemeClr val="bg2">
                    <a:lumMod val="25000"/>
                  </a:schemeClr>
                </a:solidFill>
              </a:rPr>
              <a:t>ekky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2F4464C-F318-75D7-3D85-D288F4F8AE66}"/>
              </a:ext>
            </a:extLst>
          </p:cNvPr>
          <p:cNvSpPr txBox="1">
            <a:spLocks/>
          </p:cNvSpPr>
          <p:nvPr/>
        </p:nvSpPr>
        <p:spPr>
          <a:xfrm>
            <a:off x="6846283" y="4500880"/>
            <a:ext cx="6161082" cy="1645920"/>
          </a:xfrm>
          <a:prstGeom prst="rect">
            <a:avLst/>
          </a:prstGeom>
        </p:spPr>
        <p:txBody>
          <a:bodyPr/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NSN Innovation Corp</a:t>
            </a:r>
            <a:br>
              <a:rPr lang="en-US" sz="2000" dirty="0"/>
            </a:br>
            <a:r>
              <a:rPr lang="en-US" sz="2000" dirty="0"/>
              <a:t>+49 179 502-555-0152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info@NSN.com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www.NSN.com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tIns="457200"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Data quality analysis</a:t>
            </a:r>
          </a:p>
          <a:p>
            <a:r>
              <a:rPr lang="en-US" dirty="0"/>
              <a:t>EDA (4 questions)</a:t>
            </a:r>
          </a:p>
          <a:p>
            <a:r>
              <a:rPr lang="en-US" dirty="0"/>
              <a:t>Business Insights for future</a:t>
            </a: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77" y="298881"/>
            <a:ext cx="10873740" cy="112172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u="sng" dirty="0">
                <a:solidFill>
                  <a:srgbClr val="92D050"/>
                </a:solidFill>
              </a:rPr>
              <a:t>Data</a:t>
            </a:r>
            <a:r>
              <a:rPr lang="en-US" altLang="zh-TW" u="sng" dirty="0">
                <a:solidFill>
                  <a:srgbClr val="92D050"/>
                </a:solidFill>
              </a:rPr>
              <a:t> Quality analysis</a:t>
            </a:r>
            <a:br>
              <a:rPr lang="en-US" altLang="zh-TW" dirty="0">
                <a:solidFill>
                  <a:srgbClr val="92D050"/>
                </a:solidFill>
              </a:rPr>
            </a:br>
            <a:r>
              <a:rPr lang="en-US" sz="1800" b="0" dirty="0">
                <a:solidFill>
                  <a:srgbClr val="C00000"/>
                </a:solidFill>
              </a:rPr>
              <a:t>Check for duplicates = 0</a:t>
            </a:r>
            <a:br>
              <a:rPr lang="en-US" sz="1800" b="0" dirty="0">
                <a:solidFill>
                  <a:srgbClr val="C00000"/>
                </a:solidFill>
              </a:rPr>
            </a:br>
            <a:r>
              <a:rPr lang="en-US" sz="1800" b="0" dirty="0">
                <a:solidFill>
                  <a:srgbClr val="C00000"/>
                </a:solidFill>
              </a:rPr>
              <a:t>Check for missing value</a:t>
            </a:r>
            <a:br>
              <a:rPr lang="en-US" b="0" dirty="0"/>
            </a:br>
            <a:endParaRPr lang="en-US" sz="1400" dirty="0">
              <a:solidFill>
                <a:srgbClr val="92D050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2" name="圖片 1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83081F5E-9028-13D2-DFDA-9816D72FF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7616" y="1469784"/>
            <a:ext cx="4081359" cy="5204669"/>
          </a:xfrm>
          <a:prstGeom prst="rect">
            <a:avLst/>
          </a:prstGeom>
        </p:spPr>
      </p:pic>
      <p:pic>
        <p:nvPicPr>
          <p:cNvPr id="4" name="圖片 3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712C06E4-7065-95BB-03F8-8C59529D96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576" y="1367844"/>
            <a:ext cx="4567299" cy="5306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80B46-68F4-1DF3-0981-A1E8C0504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826EFB1D-2E16-4DA0-3484-E995FEACB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1" y="1266471"/>
            <a:ext cx="9619860" cy="5507553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D1F392B-5A09-C3D7-EC59-90671A3D9941}"/>
              </a:ext>
            </a:extLst>
          </p:cNvPr>
          <p:cNvSpPr txBox="1"/>
          <p:nvPr/>
        </p:nvSpPr>
        <p:spPr>
          <a:xfrm>
            <a:off x="755780" y="456847"/>
            <a:ext cx="108312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92D050"/>
                </a:solidFill>
              </a:rPr>
              <a:t>Change</a:t>
            </a:r>
            <a:r>
              <a:rPr lang="zh-TW" altLang="en-US" sz="2800" b="1" dirty="0">
                <a:solidFill>
                  <a:srgbClr val="92D050"/>
                </a:solidFill>
              </a:rPr>
              <a:t> </a:t>
            </a:r>
            <a:r>
              <a:rPr lang="en-US" altLang="zh-TW" sz="2800" b="1" dirty="0">
                <a:solidFill>
                  <a:srgbClr val="92D050"/>
                </a:solidFill>
              </a:rPr>
              <a:t>the</a:t>
            </a:r>
            <a:r>
              <a:rPr lang="zh-TW" altLang="en-US" sz="2800" b="1" dirty="0">
                <a:solidFill>
                  <a:srgbClr val="92D050"/>
                </a:solidFill>
              </a:rPr>
              <a:t> </a:t>
            </a:r>
            <a:r>
              <a:rPr lang="en-US" altLang="zh-TW" sz="2800" b="1" dirty="0">
                <a:solidFill>
                  <a:srgbClr val="92D050"/>
                </a:solidFill>
              </a:rPr>
              <a:t>time format to datetime format(before the cohort creation)</a:t>
            </a:r>
            <a:endParaRPr lang="en-US" sz="2800" b="1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637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34" y="158619"/>
            <a:ext cx="9778365" cy="1026087"/>
          </a:xfrm>
        </p:spPr>
        <p:txBody>
          <a:bodyPr/>
          <a:lstStyle/>
          <a:p>
            <a:pPr lvl="0">
              <a:spcBef>
                <a:spcPts val="0"/>
              </a:spcBef>
              <a:buSzPts val="990"/>
            </a:pPr>
            <a:r>
              <a:rPr lang="en-US" sz="2800" u="sng" dirty="0">
                <a:solidFill>
                  <a:srgbClr val="92D050"/>
                </a:solidFill>
              </a:rPr>
              <a:t>Frequency of Service Usage.</a:t>
            </a:r>
            <a:br>
              <a:rPr lang="en-US" sz="2800" u="sng" dirty="0">
                <a:solidFill>
                  <a:srgbClr val="92D050"/>
                </a:solidFill>
              </a:rPr>
            </a:br>
            <a:r>
              <a:rPr lang="en-US" sz="2400" dirty="0">
                <a:solidFill>
                  <a:srgbClr val="92D050"/>
                </a:solidFill>
              </a:rPr>
              <a:t>Understand how often users from each cohort utilize </a:t>
            </a:r>
            <a:r>
              <a:rPr lang="en-US" sz="2400" dirty="0" err="1">
                <a:solidFill>
                  <a:srgbClr val="92D050"/>
                </a:solidFill>
              </a:rPr>
              <a:t>IronHack</a:t>
            </a:r>
            <a:r>
              <a:rPr lang="en-US" sz="2400" dirty="0">
                <a:solidFill>
                  <a:srgbClr val="92D050"/>
                </a:solidFill>
              </a:rPr>
              <a:t> Payments' cash advance services over time.</a:t>
            </a:r>
          </a:p>
        </p:txBody>
      </p:sp>
      <p:pic>
        <p:nvPicPr>
          <p:cNvPr id="5" name="Google Shape;70;p15">
            <a:extLst>
              <a:ext uri="{FF2B5EF4-FFF2-40B4-BE49-F238E27FC236}">
                <a16:creationId xmlns:a16="http://schemas.microsoft.com/office/drawing/2014/main" id="{4C936B63-E906-BAC1-4731-E7DCF485E22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562" y="1493148"/>
            <a:ext cx="9457731" cy="52062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FC9B8-C44C-4F3B-8F8F-A7A8C1437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Rectangle, 圖表 的圖片&#10;&#10;AI 產生的內容可能不正確。">
            <a:extLst>
              <a:ext uri="{FF2B5EF4-FFF2-40B4-BE49-F238E27FC236}">
                <a16:creationId xmlns:a16="http://schemas.microsoft.com/office/drawing/2014/main" id="{1EA26E93-E489-D3A8-7DDE-1D2457028B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89" y="739303"/>
            <a:ext cx="6067425" cy="5515178"/>
          </a:xfrm>
          <a:prstGeom prst="rect">
            <a:avLst/>
          </a:prstGeom>
        </p:spPr>
      </p:pic>
      <p:pic>
        <p:nvPicPr>
          <p:cNvPr id="5" name="圖片 4" descr="一張含有 文字, 螢幕擷取畫面, 圖表, Rectangle 的圖片&#10;&#10;AI 產生的內容可能不正確。">
            <a:extLst>
              <a:ext uri="{FF2B5EF4-FFF2-40B4-BE49-F238E27FC236}">
                <a16:creationId xmlns:a16="http://schemas.microsoft.com/office/drawing/2014/main" id="{3A80B38A-8C04-1B7C-2D89-4DD12417C0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5567" y="603519"/>
            <a:ext cx="6456433" cy="575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82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CBD3C-D3C0-F311-6955-435B1A277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1EED2-10D1-A244-B972-9D02C9F8A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926" y="241430"/>
            <a:ext cx="10873740" cy="868680"/>
          </a:xfrm>
        </p:spPr>
        <p:txBody>
          <a:bodyPr anchor="b">
            <a:normAutofit/>
          </a:bodyPr>
          <a:lstStyle/>
          <a:p>
            <a:pPr lvl="0">
              <a:spcBef>
                <a:spcPts val="0"/>
              </a:spcBef>
              <a:buSzPts val="990"/>
            </a:pPr>
            <a:r>
              <a:rPr lang="en-US" sz="2400" u="sng" dirty="0">
                <a:solidFill>
                  <a:srgbClr val="92D050"/>
                </a:solidFill>
              </a:rPr>
              <a:t>Incident Rate.</a:t>
            </a:r>
            <a:br>
              <a:rPr lang="en-US" sz="2400" u="sng" dirty="0">
                <a:solidFill>
                  <a:srgbClr val="92D050"/>
                </a:solidFill>
              </a:rPr>
            </a:br>
            <a:r>
              <a:rPr lang="en-US" sz="2000" dirty="0">
                <a:solidFill>
                  <a:srgbClr val="92D050"/>
                </a:solidFill>
              </a:rPr>
              <a:t>Determine the incident rate, explicitly focusing on payment incidents, for each cohort. Identify if there are variations in incident rates among different cohorts.</a:t>
            </a:r>
          </a:p>
        </p:txBody>
      </p:sp>
      <p:pic>
        <p:nvPicPr>
          <p:cNvPr id="7" name="圖片 6" descr="一張含有 螢幕擷取畫面, 圖表, 文字, Rectangle 的圖片&#10;&#10;AI 產生的內容可能不正確。">
            <a:extLst>
              <a:ext uri="{FF2B5EF4-FFF2-40B4-BE49-F238E27FC236}">
                <a16:creationId xmlns:a16="http://schemas.microsoft.com/office/drawing/2014/main" id="{6AC631A1-26EB-D170-91DE-9952954DDE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958" y="1186774"/>
            <a:ext cx="6037200" cy="532103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0F400F80-91E7-E759-7857-BEE4E786CAA3}"/>
              </a:ext>
            </a:extLst>
          </p:cNvPr>
          <p:cNvSpPr txBox="1"/>
          <p:nvPr/>
        </p:nvSpPr>
        <p:spPr>
          <a:xfrm>
            <a:off x="6245158" y="1478127"/>
            <a:ext cx="560680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rgbClr val="92D050"/>
                </a:solidFill>
              </a:rPr>
              <a:t> </a:t>
            </a:r>
            <a:r>
              <a:rPr lang="en-US" sz="2400" dirty="0" err="1">
                <a:solidFill>
                  <a:srgbClr val="92D050"/>
                </a:solidFill>
              </a:rPr>
              <a:t>instant_payment</a:t>
            </a:r>
            <a:r>
              <a:rPr lang="en-US" sz="2400" dirty="0">
                <a:solidFill>
                  <a:srgbClr val="92D050"/>
                </a:solidFill>
              </a:rPr>
              <a:t> : fees for instant cash request (send directly after user's request, through SEPA Instant Payment) 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>
              <a:solidFill>
                <a:srgbClr val="92D05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rgbClr val="92D050"/>
                </a:solidFill>
              </a:rPr>
              <a:t>incident : fees for failed reimbursement. Created after a failed direct debit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>
              <a:solidFill>
                <a:srgbClr val="92D05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rgbClr val="92D050"/>
                </a:solidFill>
              </a:rPr>
              <a:t>postpone : fees created when a user want to postpone the </a:t>
            </a:r>
            <a:r>
              <a:rPr lang="en-US" sz="2400" dirty="0" err="1">
                <a:solidFill>
                  <a:srgbClr val="92D050"/>
                </a:solidFill>
              </a:rPr>
              <a:t>reimbursment</a:t>
            </a:r>
            <a:r>
              <a:rPr lang="en-US" sz="2400" dirty="0">
                <a:solidFill>
                  <a:srgbClr val="92D050"/>
                </a:solidFill>
              </a:rPr>
              <a:t> of a CR</a:t>
            </a:r>
          </a:p>
        </p:txBody>
      </p:sp>
    </p:spTree>
    <p:extLst>
      <p:ext uri="{BB962C8B-B14F-4D97-AF65-F5344CB8AC3E}">
        <p14:creationId xmlns:p14="http://schemas.microsoft.com/office/powerpoint/2010/main" val="364762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6A9A9A7-F1D2-237D-AC72-E21A286F0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274" y="79541"/>
            <a:ext cx="8994398" cy="1041269"/>
          </a:xfrm>
        </p:spPr>
        <p:txBody>
          <a:bodyPr/>
          <a:lstStyle/>
          <a:p>
            <a:pPr lvl="0">
              <a:spcBef>
                <a:spcPts val="0"/>
              </a:spcBef>
              <a:buSzPts val="990"/>
            </a:pPr>
            <a:r>
              <a:rPr lang="en-US" sz="2800" u="sng" dirty="0">
                <a:solidFill>
                  <a:srgbClr val="92D050"/>
                </a:solidFill>
              </a:rPr>
              <a:t>Revenue Generated by the Cohort.</a:t>
            </a:r>
            <a:br>
              <a:rPr lang="en-US" sz="2800" u="sng" dirty="0">
                <a:solidFill>
                  <a:srgbClr val="92D050"/>
                </a:solidFill>
              </a:rPr>
            </a:br>
            <a:r>
              <a:rPr lang="en-US" sz="2000" dirty="0">
                <a:solidFill>
                  <a:srgbClr val="92D050"/>
                </a:solidFill>
              </a:rPr>
              <a:t> Calculate the total revenue generated by each cohort over months to assess the financial impact of user behavior.</a:t>
            </a:r>
          </a:p>
        </p:txBody>
      </p:sp>
      <p:pic>
        <p:nvPicPr>
          <p:cNvPr id="10" name="圖片 9" descr="一張含有 文字, 螢幕擷取畫面, Rectangle, 圖表 的圖片&#10;&#10;AI 產生的內容可能不正確。">
            <a:extLst>
              <a:ext uri="{FF2B5EF4-FFF2-40B4-BE49-F238E27FC236}">
                <a16:creationId xmlns:a16="http://schemas.microsoft.com/office/drawing/2014/main" id="{18ECA6C0-7C0D-4F99-DE07-580D2051FA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427" y="1120810"/>
            <a:ext cx="7977674" cy="5590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695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BD388-F385-AA96-8408-9CE059404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B676599-E073-7BC4-C9D7-4CBCCB53A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274" y="79541"/>
            <a:ext cx="8994398" cy="1041269"/>
          </a:xfrm>
        </p:spPr>
        <p:txBody>
          <a:bodyPr/>
          <a:lstStyle/>
          <a:p>
            <a:pPr lvl="0">
              <a:spcBef>
                <a:spcPts val="0"/>
              </a:spcBef>
              <a:buSzPts val="990"/>
            </a:pPr>
            <a:r>
              <a:rPr lang="en-US" sz="2800" u="sng" dirty="0">
                <a:solidFill>
                  <a:srgbClr val="92D050"/>
                </a:solidFill>
              </a:rPr>
              <a:t>The ratio of Revenue distribution the Cohort</a:t>
            </a:r>
            <a:br>
              <a:rPr lang="en-US" sz="2800" u="sng" dirty="0">
                <a:solidFill>
                  <a:srgbClr val="92D050"/>
                </a:solidFill>
              </a:rPr>
            </a:br>
            <a:r>
              <a:rPr lang="en-US" sz="2000" dirty="0">
                <a:solidFill>
                  <a:srgbClr val="92D050"/>
                </a:solidFill>
              </a:rPr>
              <a:t> </a:t>
            </a:r>
          </a:p>
        </p:txBody>
      </p:sp>
      <p:pic>
        <p:nvPicPr>
          <p:cNvPr id="3" name="圖片 2" descr="一張含有 文字, 螢幕擷取畫面, Rectangle, 圖表 的圖片&#10;&#10;AI 產生的內容可能不正確。">
            <a:extLst>
              <a:ext uri="{FF2B5EF4-FFF2-40B4-BE49-F238E27FC236}">
                <a16:creationId xmlns:a16="http://schemas.microsoft.com/office/drawing/2014/main" id="{7D1CE265-7165-5EA3-E24A-F6C9E3DD5C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0810"/>
            <a:ext cx="7431932" cy="533931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B1FFD41B-DAB4-3596-D7FB-952FC3027C77}"/>
              </a:ext>
            </a:extLst>
          </p:cNvPr>
          <p:cNvSpPr txBox="1"/>
          <p:nvPr/>
        </p:nvSpPr>
        <p:spPr>
          <a:xfrm>
            <a:off x="7130374" y="1393730"/>
            <a:ext cx="518808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instant_payment</a:t>
            </a:r>
            <a:r>
              <a:rPr lang="en-US" sz="2400" dirty="0">
                <a:solidFill>
                  <a:srgbClr val="C00000"/>
                </a:solidFill>
              </a:rPr>
              <a:t> : fees for instant cash request (send directly after user's request, through SEPA Instant Payment) 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>
              <a:solidFill>
                <a:srgbClr val="92D05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rgbClr val="0070C0"/>
                </a:solidFill>
              </a:rPr>
              <a:t>incident : fees for failed reimbursement. Created after a failed direct debit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>
              <a:solidFill>
                <a:srgbClr val="92D05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accent1"/>
                </a:solidFill>
              </a:rPr>
              <a:t>postpone : fees created when a user want to postpone the </a:t>
            </a:r>
            <a:r>
              <a:rPr lang="en-US" sz="2400" dirty="0" err="1">
                <a:solidFill>
                  <a:schemeClr val="accent1"/>
                </a:solidFill>
              </a:rPr>
              <a:t>reimbursment</a:t>
            </a:r>
            <a:r>
              <a:rPr lang="en-US" sz="2400" dirty="0">
                <a:solidFill>
                  <a:schemeClr val="accent1"/>
                </a:solidFill>
              </a:rPr>
              <a:t> of a CR</a:t>
            </a:r>
          </a:p>
        </p:txBody>
      </p:sp>
    </p:spTree>
    <p:extLst>
      <p:ext uri="{BB962C8B-B14F-4D97-AF65-F5344CB8AC3E}">
        <p14:creationId xmlns:p14="http://schemas.microsoft.com/office/powerpoint/2010/main" val="2985851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D29B5-1B58-809F-FEA7-B82105E94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3948" y="4991045"/>
            <a:ext cx="8171319" cy="1078591"/>
          </a:xfrm>
        </p:spPr>
        <p:txBody>
          <a:bodyPr/>
          <a:lstStyle/>
          <a:p>
            <a:r>
              <a:rPr lang="en-US" dirty="0"/>
              <a:t>Business Insights for future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99B60-BF79-A832-6AD4-6C6FC6CE431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70229" y="1776420"/>
            <a:ext cx="8599250" cy="4387174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rgbClr val="92D050"/>
                </a:solidFill>
              </a:rPr>
              <a:t>cohort utilize </a:t>
            </a:r>
            <a:r>
              <a:rPr lang="en-US" sz="2400" b="1" u="sng" dirty="0" err="1">
                <a:solidFill>
                  <a:srgbClr val="92D050"/>
                </a:solidFill>
              </a:rPr>
              <a:t>IronHack</a:t>
            </a:r>
            <a:r>
              <a:rPr lang="en-US" sz="2400" b="1" u="sng" dirty="0">
                <a:solidFill>
                  <a:srgbClr val="92D050"/>
                </a:solidFill>
              </a:rPr>
              <a:t> changes according to months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rgbClr val="92D050"/>
                </a:solidFill>
              </a:rPr>
              <a:t>October is the highest </a:t>
            </a:r>
            <a:br>
              <a:rPr lang="en-US" sz="3200" b="1" dirty="0">
                <a:solidFill>
                  <a:srgbClr val="92D050"/>
                </a:solidFill>
              </a:rPr>
            </a:br>
            <a:endParaRPr lang="en-US" sz="3200" b="1" dirty="0">
              <a:solidFill>
                <a:srgbClr val="92D050"/>
              </a:solidFill>
            </a:endParaRPr>
          </a:p>
          <a:p>
            <a:r>
              <a:rPr lang="en-US" sz="1800" b="1" dirty="0">
                <a:solidFill>
                  <a:srgbClr val="92D050"/>
                </a:solidFill>
              </a:rPr>
              <a:t>Next studies &amp; research: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solidFill>
                  <a:srgbClr val="C00000"/>
                </a:solidFill>
              </a:rPr>
              <a:t>Could be related to seasonal or holiday factors for expenses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solidFill>
                  <a:srgbClr val="C00000"/>
                </a:solidFill>
              </a:rPr>
              <a:t>More promotions and discounts &gt;  increases the business revenues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b="1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8225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7033" y="605945"/>
            <a:ext cx="4529901" cy="195600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734F0-2DDD-AF70-F13D-F9E4C1929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35089" y="3662313"/>
            <a:ext cx="5486400" cy="1645920"/>
          </a:xfrm>
        </p:spPr>
        <p:txBody>
          <a:bodyPr/>
          <a:lstStyle/>
          <a:p>
            <a:r>
              <a:rPr lang="en-US" dirty="0"/>
              <a:t>NSN Innovation Corp</a:t>
            </a:r>
          </a:p>
          <a:p>
            <a:br>
              <a:rPr lang="en-US" dirty="0"/>
            </a:br>
            <a:r>
              <a:rPr lang="en-US" dirty="0"/>
              <a:t>+49 179 502-555-0152</a:t>
            </a:r>
          </a:p>
          <a:p>
            <a:r>
              <a:rPr lang="en-US" dirty="0"/>
              <a:t>info@NSN.com</a:t>
            </a:r>
          </a:p>
          <a:p>
            <a:r>
              <a:rPr lang="en-US" dirty="0"/>
              <a:t>www.NSN.com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{C27FE001-C50A-415F-AABF-DDCF1B8847F0}TFd3b75063-ff25-434d-b12c-efeaf07d16c3292f62b5_win32-75a75c970d8e</Template>
  <TotalTime>75</TotalTime>
  <Words>328</Words>
  <Application>Microsoft Office PowerPoint</Application>
  <PresentationFormat>寬螢幕</PresentationFormat>
  <Paragraphs>49</Paragraphs>
  <Slides>11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6" baseType="lpstr">
      <vt:lpstr>Arial</vt:lpstr>
      <vt:lpstr>Calibri</vt:lpstr>
      <vt:lpstr>Franklin Gothic Book</vt:lpstr>
      <vt:lpstr>Franklin Gothic Demi</vt:lpstr>
      <vt:lpstr>Custom</vt:lpstr>
      <vt:lpstr>PowerPoint 簡報</vt:lpstr>
      <vt:lpstr>Agenda</vt:lpstr>
      <vt:lpstr>Data Quality analysis Check for duplicates = 0 Check for missing value </vt:lpstr>
      <vt:lpstr>PowerPoint 簡報</vt:lpstr>
      <vt:lpstr>Frequency of Service Usage. Understand how often users from each cohort utilize IronHack Payments' cash advance services over time.</vt:lpstr>
      <vt:lpstr>PowerPoint 簡報</vt:lpstr>
      <vt:lpstr>Incident Rate. Determine the incident rate, explicitly focusing on payment incidents, for each cohort. Identify if there are variations in incident rates among different cohorts.</vt:lpstr>
      <vt:lpstr>Revenue Generated by the Cohort.  Calculate the total revenue generated by each cohort over months to assess the financial impact of user behavior.</vt:lpstr>
      <vt:lpstr>The ratio of Revenue distribution the Cohort  </vt:lpstr>
      <vt:lpstr>Business Insights for future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Wai Lung Tang (wtang)</dc:creator>
  <cp:lastModifiedBy>Wai Lung Tang (wtang)</cp:lastModifiedBy>
  <cp:revision>14</cp:revision>
  <dcterms:created xsi:type="dcterms:W3CDTF">2025-08-01T13:15:56Z</dcterms:created>
  <dcterms:modified xsi:type="dcterms:W3CDTF">2025-08-01T14:30:59Z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