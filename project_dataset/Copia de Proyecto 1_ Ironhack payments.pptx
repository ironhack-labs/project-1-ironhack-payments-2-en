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Roboto"/>
      <p:regular r:id="rId35"/>
      <p:bold r:id="rId36"/>
      <p:italic r:id="rId37"/>
      <p:boldItalic r:id="rId38"/>
    </p:embeddedFont>
    <p:embeddedFont>
      <p:font typeface="Roboto Medium"/>
      <p:regular r:id="rId39"/>
      <p:bold r:id="rId40"/>
      <p:italic r:id="rId41"/>
      <p:boldItalic r:id="rId42"/>
    </p:embeddedFont>
    <p:embeddedFont>
      <p:font typeface="Montserrat"/>
      <p:regular r:id="rId43"/>
      <p:bold r:id="rId44"/>
      <p:italic r:id="rId45"/>
      <p:boldItalic r:id="rId46"/>
    </p:embeddedFont>
    <p:embeddedFont>
      <p:font typeface="Lato"/>
      <p:regular r:id="rId47"/>
      <p:bold r:id="rId48"/>
      <p:italic r:id="rId49"/>
      <p:boldItalic r:id="rId50"/>
    </p:embeddedFont>
    <p:embeddedFont>
      <p:font typeface="Roboto Light"/>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69A13F-F70C-41B0-814A-8EAE7F894294}">
  <a:tblStyle styleId="{8D69A13F-F70C-41B0-814A-8EAE7F89429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edium-bold.fntdata"/><Relationship Id="rId42" Type="http://schemas.openxmlformats.org/officeDocument/2006/relationships/font" Target="fonts/RobotoMedium-boldItalic.fntdata"/><Relationship Id="rId41" Type="http://schemas.openxmlformats.org/officeDocument/2006/relationships/font" Target="fonts/RobotoMedium-italic.fntdata"/><Relationship Id="rId44" Type="http://schemas.openxmlformats.org/officeDocument/2006/relationships/font" Target="fonts/Montserrat-bold.fntdata"/><Relationship Id="rId43" Type="http://schemas.openxmlformats.org/officeDocument/2006/relationships/font" Target="fonts/Montserrat-regular.fntdata"/><Relationship Id="rId46" Type="http://schemas.openxmlformats.org/officeDocument/2006/relationships/font" Target="fonts/Montserrat-boldItalic.fntdata"/><Relationship Id="rId45" Type="http://schemas.openxmlformats.org/officeDocument/2006/relationships/font" Target="fonts/Montserra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ato-bold.fntdata"/><Relationship Id="rId47" Type="http://schemas.openxmlformats.org/officeDocument/2006/relationships/font" Target="fonts/Lato-regular.fntdata"/><Relationship Id="rId49"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Roboto-regular.fntdata"/><Relationship Id="rId34" Type="http://schemas.openxmlformats.org/officeDocument/2006/relationships/slide" Target="slides/slide28.xml"/><Relationship Id="rId37" Type="http://schemas.openxmlformats.org/officeDocument/2006/relationships/font" Target="fonts/Roboto-italic.fntdata"/><Relationship Id="rId36" Type="http://schemas.openxmlformats.org/officeDocument/2006/relationships/font" Target="fonts/Roboto-bold.fntdata"/><Relationship Id="rId39" Type="http://schemas.openxmlformats.org/officeDocument/2006/relationships/font" Target="fonts/RobotoMedium-regular.fntdata"/><Relationship Id="rId38" Type="http://schemas.openxmlformats.org/officeDocument/2006/relationships/font" Target="fonts/Roboto-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Light-regular.fntdata"/><Relationship Id="rId50" Type="http://schemas.openxmlformats.org/officeDocument/2006/relationships/font" Target="fonts/Lato-boldItalic.fntdata"/><Relationship Id="rId53" Type="http://schemas.openxmlformats.org/officeDocument/2006/relationships/font" Target="fonts/RobotoLight-italic.fntdata"/><Relationship Id="rId52" Type="http://schemas.openxmlformats.org/officeDocument/2006/relationships/font" Target="fonts/RobotoLight-bold.fntdata"/><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font" Target="fonts/RobotoLight-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20b831c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20b831c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2cf03a900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2cf03a900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6ffc0a5c6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6ffc0a5c69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30711c831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30711c831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30711c831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30711c831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30711c831_0_9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30711c831_0_9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30711c831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a30711c831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6ffc0a5c69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6ffc0a5c69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30711c831_0_1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30711c831_0_1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2cf03a900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2cf03a900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318915dd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a318915dd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a318915dd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a318915dd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30711c831_0_1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a30711c831_0_1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30711c831_0_1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a30711c831_0_1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318915dd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a318915dd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a318915dd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a318915dd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a2744ccae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a2744ccae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a318915ddf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a318915ddf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a30711c831_0_1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a30711c831_0_1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a30711c831_0_1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a30711c831_0_1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a318915ddf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a318915dd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a318915ddf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a318915ddf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318915dd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a318915dd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a318915ddf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a318915ddf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a318915ddf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a318915dd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a318915ddf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a318915ddf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a318915ddf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a318915ddf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a318915ddf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a318915ddf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latin typeface="Roboto Light"/>
                <a:ea typeface="Roboto Light"/>
                <a:cs typeface="Roboto Light"/>
                <a:sym typeface="Roboto Light"/>
              </a:rPr>
              <a:t>PROYECTO :</a:t>
            </a:r>
            <a:endParaRPr sz="3000">
              <a:latin typeface="Roboto Light"/>
              <a:ea typeface="Roboto Light"/>
              <a:cs typeface="Roboto Light"/>
              <a:sym typeface="Roboto Light"/>
            </a:endParaRPr>
          </a:p>
          <a:p>
            <a:pPr indent="0" lvl="0" marL="0" rtl="0" algn="l">
              <a:spcBef>
                <a:spcPts val="0"/>
              </a:spcBef>
              <a:spcAft>
                <a:spcPts val="0"/>
              </a:spcAft>
              <a:buNone/>
            </a:pPr>
            <a:r>
              <a:rPr lang="es" sz="3000">
                <a:latin typeface="Roboto Light"/>
                <a:ea typeface="Roboto Light"/>
                <a:cs typeface="Roboto Light"/>
                <a:sym typeface="Roboto Light"/>
              </a:rPr>
              <a:t>IRONHACK PAYMENTS </a:t>
            </a:r>
            <a:endParaRPr sz="3000">
              <a:latin typeface="Roboto Light"/>
              <a:ea typeface="Roboto Light"/>
              <a:cs typeface="Roboto Light"/>
              <a:sym typeface="Roboto Light"/>
            </a:endParaRPr>
          </a:p>
        </p:txBody>
      </p:sp>
      <p:sp>
        <p:nvSpPr>
          <p:cNvPr id="135" name="Google Shape;135;p13"/>
          <p:cNvSpPr txBox="1"/>
          <p:nvPr>
            <p:ph idx="1" type="subTitle"/>
          </p:nvPr>
        </p:nvSpPr>
        <p:spPr>
          <a:xfrm>
            <a:off x="4892400" y="3246475"/>
            <a:ext cx="3785400" cy="1461000"/>
          </a:xfrm>
          <a:prstGeom prst="rect">
            <a:avLst/>
          </a:prstGeom>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s" sz="1600"/>
              <a:t>Javier Cereceda</a:t>
            </a:r>
            <a:endParaRPr sz="1600"/>
          </a:p>
          <a:p>
            <a:pPr indent="-330200" lvl="0" marL="457200" rtl="0" algn="l">
              <a:lnSpc>
                <a:spcPct val="115000"/>
              </a:lnSpc>
              <a:spcBef>
                <a:spcPts val="0"/>
              </a:spcBef>
              <a:spcAft>
                <a:spcPts val="0"/>
              </a:spcAft>
              <a:buSzPts val="1600"/>
              <a:buChar char="❏"/>
            </a:pPr>
            <a:r>
              <a:rPr lang="es" sz="1600"/>
              <a:t>Juan Alberto</a:t>
            </a:r>
            <a:endParaRPr sz="1600"/>
          </a:p>
          <a:p>
            <a:pPr indent="-330200" lvl="0" marL="457200" rtl="0" algn="l">
              <a:lnSpc>
                <a:spcPct val="115000"/>
              </a:lnSpc>
              <a:spcBef>
                <a:spcPts val="0"/>
              </a:spcBef>
              <a:spcAft>
                <a:spcPts val="0"/>
              </a:spcAft>
              <a:buSzPts val="1600"/>
              <a:buChar char="❏"/>
            </a:pPr>
            <a:r>
              <a:rPr lang="es" sz="1600"/>
              <a:t>Nuria Vallés</a:t>
            </a:r>
            <a:endParaRPr sz="1600"/>
          </a:p>
          <a:p>
            <a:pPr indent="-330200" lvl="0" marL="457200" rtl="0" algn="l">
              <a:lnSpc>
                <a:spcPct val="115000"/>
              </a:lnSpc>
              <a:spcBef>
                <a:spcPts val="0"/>
              </a:spcBef>
              <a:spcAft>
                <a:spcPts val="0"/>
              </a:spcAft>
              <a:buSzPts val="1600"/>
              <a:buChar char="❏"/>
            </a:pPr>
            <a:r>
              <a:rPr lang="es" sz="1600"/>
              <a:t>Koldo Zabaleta</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39" name="Shape 139"/>
        <p:cNvGrpSpPr/>
        <p:nvPr/>
      </p:nvGrpSpPr>
      <p:grpSpPr>
        <a:xfrm>
          <a:off x="0" y="0"/>
          <a:ext cx="0" cy="0"/>
          <a:chOff x="0" y="0"/>
          <a:chExt cx="0" cy="0"/>
        </a:xfrm>
      </p:grpSpPr>
      <p:sp>
        <p:nvSpPr>
          <p:cNvPr id="140" name="Google Shape;140;p14"/>
          <p:cNvSpPr txBox="1"/>
          <p:nvPr>
            <p:ph type="title"/>
          </p:nvPr>
        </p:nvSpPr>
        <p:spPr>
          <a:xfrm>
            <a:off x="823850" y="462975"/>
            <a:ext cx="4587000" cy="37620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sz="2650">
                <a:latin typeface="Roboto Light"/>
                <a:ea typeface="Roboto Light"/>
                <a:cs typeface="Roboto Light"/>
                <a:sym typeface="Roboto Light"/>
              </a:rPr>
              <a:t>   ÍNDICE</a:t>
            </a:r>
            <a:r>
              <a:rPr lang="es" sz="2650">
                <a:latin typeface="Roboto Light"/>
                <a:ea typeface="Roboto Light"/>
                <a:cs typeface="Roboto Light"/>
                <a:sym typeface="Roboto Light"/>
              </a:rPr>
              <a:t> :</a:t>
            </a:r>
            <a:endParaRPr sz="2650">
              <a:latin typeface="Roboto Light"/>
              <a:ea typeface="Roboto Light"/>
              <a:cs typeface="Roboto Light"/>
              <a:sym typeface="Roboto Light"/>
            </a:endParaRPr>
          </a:p>
          <a:p>
            <a:pPr indent="0" lvl="0" marL="0" rtl="0" algn="l">
              <a:spcBef>
                <a:spcPts val="0"/>
              </a:spcBef>
              <a:spcAft>
                <a:spcPts val="0"/>
              </a:spcAft>
              <a:buNone/>
            </a:pPr>
            <a:r>
              <a:t/>
            </a:r>
            <a:endParaRPr sz="2333">
              <a:latin typeface="Roboto Light"/>
              <a:ea typeface="Roboto Light"/>
              <a:cs typeface="Roboto Light"/>
              <a:sym typeface="Roboto Light"/>
            </a:endParaRPr>
          </a:p>
          <a:p>
            <a:pPr indent="-361949" lvl="0" marL="457200" rtl="0" algn="l">
              <a:spcBef>
                <a:spcPts val="0"/>
              </a:spcBef>
              <a:spcAft>
                <a:spcPts val="0"/>
              </a:spcAft>
              <a:buSzPct val="100000"/>
              <a:buFont typeface="Roboto Light"/>
              <a:buChar char="●"/>
            </a:pPr>
            <a:r>
              <a:rPr lang="es" sz="2333">
                <a:latin typeface="Roboto Light"/>
                <a:ea typeface="Roboto Light"/>
                <a:cs typeface="Roboto Light"/>
                <a:sym typeface="Roboto Light"/>
              </a:rPr>
              <a:t>Introducci</a:t>
            </a:r>
            <a:r>
              <a:rPr lang="es" sz="2333">
                <a:latin typeface="Roboto Light"/>
                <a:ea typeface="Roboto Light"/>
                <a:cs typeface="Roboto Light"/>
                <a:sym typeface="Roboto Light"/>
              </a:rPr>
              <a:t>ón y o</a:t>
            </a:r>
            <a:r>
              <a:rPr lang="es" sz="2333">
                <a:latin typeface="Roboto Light"/>
                <a:ea typeface="Roboto Light"/>
                <a:cs typeface="Roboto Light"/>
                <a:sym typeface="Roboto Light"/>
              </a:rPr>
              <a:t>bjetivo</a:t>
            </a:r>
            <a:endParaRPr sz="2333">
              <a:latin typeface="Roboto Light"/>
              <a:ea typeface="Roboto Light"/>
              <a:cs typeface="Roboto Light"/>
              <a:sym typeface="Roboto Light"/>
            </a:endParaRPr>
          </a:p>
          <a:p>
            <a:pPr indent="-361949" lvl="0" marL="457200" rtl="0" algn="l">
              <a:spcBef>
                <a:spcPts val="0"/>
              </a:spcBef>
              <a:spcAft>
                <a:spcPts val="0"/>
              </a:spcAft>
              <a:buSzPct val="100000"/>
              <a:buFont typeface="Roboto Light"/>
              <a:buChar char="●"/>
            </a:pPr>
            <a:r>
              <a:rPr lang="es" sz="2333">
                <a:latin typeface="Roboto Light"/>
                <a:ea typeface="Roboto Light"/>
                <a:cs typeface="Roboto Light"/>
                <a:sym typeface="Roboto Light"/>
              </a:rPr>
              <a:t>Preparaci</a:t>
            </a:r>
            <a:r>
              <a:rPr lang="es" sz="2333">
                <a:latin typeface="Roboto Light"/>
                <a:ea typeface="Roboto Light"/>
                <a:cs typeface="Roboto Light"/>
                <a:sym typeface="Roboto Light"/>
              </a:rPr>
              <a:t>ón e i</a:t>
            </a:r>
            <a:r>
              <a:rPr lang="es" sz="2333">
                <a:latin typeface="Roboto Light"/>
                <a:ea typeface="Roboto Light"/>
                <a:cs typeface="Roboto Light"/>
                <a:sym typeface="Roboto Light"/>
              </a:rPr>
              <a:t>mplementaci</a:t>
            </a:r>
            <a:r>
              <a:rPr lang="es" sz="2333">
                <a:latin typeface="Roboto Light"/>
                <a:ea typeface="Roboto Light"/>
                <a:cs typeface="Roboto Light"/>
                <a:sym typeface="Roboto Light"/>
              </a:rPr>
              <a:t>ón</a:t>
            </a:r>
            <a:endParaRPr sz="2333">
              <a:latin typeface="Roboto Light"/>
              <a:ea typeface="Roboto Light"/>
              <a:cs typeface="Roboto Light"/>
              <a:sym typeface="Roboto Light"/>
            </a:endParaRPr>
          </a:p>
          <a:p>
            <a:pPr indent="-361949" lvl="0" marL="457200" rtl="0" algn="l">
              <a:spcBef>
                <a:spcPts val="0"/>
              </a:spcBef>
              <a:spcAft>
                <a:spcPts val="0"/>
              </a:spcAft>
              <a:buSzPct val="100000"/>
              <a:buFont typeface="Roboto Light"/>
              <a:buChar char="●"/>
            </a:pPr>
            <a:r>
              <a:rPr lang="es" sz="2333">
                <a:latin typeface="Roboto Light"/>
                <a:ea typeface="Roboto Light"/>
                <a:cs typeface="Roboto Light"/>
                <a:sym typeface="Roboto Light"/>
              </a:rPr>
              <a:t>Análisis de variables</a:t>
            </a:r>
            <a:endParaRPr sz="2333">
              <a:latin typeface="Roboto Light"/>
              <a:ea typeface="Roboto Light"/>
              <a:cs typeface="Roboto Light"/>
              <a:sym typeface="Roboto Light"/>
            </a:endParaRPr>
          </a:p>
          <a:p>
            <a:pPr indent="-361949" lvl="0" marL="457200" rtl="0" algn="l">
              <a:spcBef>
                <a:spcPts val="0"/>
              </a:spcBef>
              <a:spcAft>
                <a:spcPts val="0"/>
              </a:spcAft>
              <a:buSzPct val="100000"/>
              <a:buFont typeface="Roboto Light"/>
              <a:buChar char="●"/>
            </a:pPr>
            <a:r>
              <a:rPr lang="es" sz="2333">
                <a:latin typeface="Roboto Light"/>
                <a:ea typeface="Roboto Light"/>
                <a:cs typeface="Roboto Light"/>
                <a:sym typeface="Roboto Light"/>
              </a:rPr>
              <a:t>Resultados</a:t>
            </a:r>
            <a:endParaRPr sz="2333">
              <a:latin typeface="Roboto Light"/>
              <a:ea typeface="Roboto Light"/>
              <a:cs typeface="Roboto Light"/>
              <a:sym typeface="Roboto Light"/>
            </a:endParaRPr>
          </a:p>
          <a:p>
            <a:pPr indent="-361949" lvl="0" marL="457200" rtl="0" algn="l">
              <a:spcBef>
                <a:spcPts val="0"/>
              </a:spcBef>
              <a:spcAft>
                <a:spcPts val="0"/>
              </a:spcAft>
              <a:buSzPct val="100000"/>
              <a:buFont typeface="Roboto Light"/>
              <a:buChar char="●"/>
            </a:pPr>
            <a:r>
              <a:rPr lang="es" sz="2333">
                <a:latin typeface="Roboto Light"/>
                <a:ea typeface="Roboto Light"/>
                <a:cs typeface="Roboto Light"/>
                <a:sym typeface="Roboto Light"/>
              </a:rPr>
              <a:t>Demo del proyecto.</a:t>
            </a:r>
            <a:endParaRPr sz="2333">
              <a:latin typeface="Roboto Light"/>
              <a:ea typeface="Roboto Light"/>
              <a:cs typeface="Roboto Light"/>
              <a:sym typeface="Roboto Light"/>
            </a:endParaRPr>
          </a:p>
          <a:p>
            <a:pPr indent="-361949" lvl="0" marL="457200" rtl="0" algn="l">
              <a:spcBef>
                <a:spcPts val="0"/>
              </a:spcBef>
              <a:spcAft>
                <a:spcPts val="0"/>
              </a:spcAft>
              <a:buSzPct val="100000"/>
              <a:buFont typeface="Roboto Light"/>
              <a:buChar char="●"/>
            </a:pPr>
            <a:r>
              <a:rPr lang="es" sz="2333">
                <a:latin typeface="Roboto Light"/>
                <a:ea typeface="Roboto Light"/>
                <a:cs typeface="Roboto Light"/>
                <a:sym typeface="Roboto Light"/>
              </a:rPr>
              <a:t>Conclusión y próximos pasos.</a:t>
            </a:r>
            <a:endParaRPr sz="2333">
              <a:latin typeface="Roboto Light"/>
              <a:ea typeface="Roboto Light"/>
              <a:cs typeface="Roboto Light"/>
              <a:sym typeface="Roboto Light"/>
            </a:endParaRPr>
          </a:p>
          <a:p>
            <a:pPr indent="-361949" lvl="0" marL="457200" rtl="0" algn="l">
              <a:spcBef>
                <a:spcPts val="0"/>
              </a:spcBef>
              <a:spcAft>
                <a:spcPts val="0"/>
              </a:spcAft>
              <a:buSzPct val="100000"/>
              <a:buFont typeface="Roboto Light"/>
              <a:buChar char="●"/>
            </a:pPr>
            <a:r>
              <a:rPr lang="es" sz="2333">
                <a:latin typeface="Roboto Light"/>
                <a:ea typeface="Roboto Light"/>
                <a:cs typeface="Roboto Light"/>
                <a:sym typeface="Roboto Light"/>
              </a:rPr>
              <a:t>Demo del proyecto.</a:t>
            </a:r>
            <a:endParaRPr sz="2333">
              <a:latin typeface="Roboto Light"/>
              <a:ea typeface="Roboto Light"/>
              <a:cs typeface="Roboto Light"/>
              <a:sym typeface="Roboto Light"/>
            </a:endParaRPr>
          </a:p>
          <a:p>
            <a:pPr indent="0" lvl="0" marL="0" rtl="0" algn="l">
              <a:spcBef>
                <a:spcPts val="0"/>
              </a:spcBef>
              <a:spcAft>
                <a:spcPts val="0"/>
              </a:spcAft>
              <a:buNone/>
            </a:pPr>
            <a:r>
              <a:t/>
            </a:r>
            <a:endParaRPr sz="3000">
              <a:latin typeface="Roboto Light"/>
              <a:ea typeface="Roboto Light"/>
              <a:cs typeface="Roboto Light"/>
              <a:sym typeface="Roboto Light"/>
            </a:endParaRPr>
          </a:p>
        </p:txBody>
      </p:sp>
      <p:sp>
        <p:nvSpPr>
          <p:cNvPr id="141" name="Google Shape;141;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45" name="Shape 145"/>
        <p:cNvGrpSpPr/>
        <p:nvPr/>
      </p:nvGrpSpPr>
      <p:grpSpPr>
        <a:xfrm>
          <a:off x="0" y="0"/>
          <a:ext cx="0" cy="0"/>
          <a:chOff x="0" y="0"/>
          <a:chExt cx="0" cy="0"/>
        </a:xfrm>
      </p:grpSpPr>
      <p:sp>
        <p:nvSpPr>
          <p:cNvPr id="146" name="Google Shape;146;p15"/>
          <p:cNvSpPr txBox="1"/>
          <p:nvPr>
            <p:ph idx="1" type="body"/>
          </p:nvPr>
        </p:nvSpPr>
        <p:spPr>
          <a:xfrm>
            <a:off x="1240950" y="1626275"/>
            <a:ext cx="7152000" cy="29919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lang="es" sz="1500">
                <a:latin typeface="Roboto"/>
                <a:ea typeface="Roboto"/>
                <a:cs typeface="Roboto"/>
                <a:sym typeface="Roboto"/>
              </a:rPr>
              <a:t>Realizar un análisis de los diferentes </a:t>
            </a:r>
            <a:r>
              <a:rPr b="1" lang="es" sz="1500">
                <a:latin typeface="Roboto"/>
                <a:ea typeface="Roboto"/>
                <a:cs typeface="Roboto"/>
                <a:sym typeface="Roboto"/>
              </a:rPr>
              <a:t>cohortes de usuarios</a:t>
            </a:r>
            <a:r>
              <a:rPr lang="es" sz="1500">
                <a:latin typeface="Roboto"/>
                <a:ea typeface="Roboto"/>
                <a:cs typeface="Roboto"/>
                <a:sym typeface="Roboto"/>
              </a:rPr>
              <a:t> registrados en la base de datos IronHack Payments con el fin de comprender su </a:t>
            </a:r>
            <a:r>
              <a:rPr b="1" lang="es" sz="1500">
                <a:latin typeface="Roboto"/>
                <a:ea typeface="Roboto"/>
                <a:cs typeface="Roboto"/>
                <a:sym typeface="Roboto"/>
              </a:rPr>
              <a:t>comportamiento y evolución</a:t>
            </a:r>
            <a:r>
              <a:rPr lang="es" sz="1500">
                <a:latin typeface="Roboto"/>
                <a:ea typeface="Roboto"/>
                <a:cs typeface="Roboto"/>
                <a:sym typeface="Roboto"/>
              </a:rPr>
              <a:t> en el tiempo.</a:t>
            </a:r>
            <a:endParaRPr sz="1500">
              <a:latin typeface="Roboto"/>
              <a:ea typeface="Roboto"/>
              <a:cs typeface="Roboto"/>
              <a:sym typeface="Roboto"/>
            </a:endParaRPr>
          </a:p>
          <a:p>
            <a:pPr indent="0" lvl="0" marL="0" rtl="0" algn="just">
              <a:spcBef>
                <a:spcPts val="1200"/>
              </a:spcBef>
              <a:spcAft>
                <a:spcPts val="0"/>
              </a:spcAft>
              <a:buNone/>
            </a:pPr>
            <a:r>
              <a:rPr lang="es" sz="1500">
                <a:latin typeface="Roboto"/>
                <a:ea typeface="Roboto"/>
                <a:cs typeface="Roboto"/>
                <a:sym typeface="Roboto"/>
              </a:rPr>
              <a:t>Analizaremos en profundidad la evolución de las diferentes </a:t>
            </a:r>
            <a:r>
              <a:rPr b="1" lang="es" sz="1500">
                <a:latin typeface="Roboto"/>
                <a:ea typeface="Roboto"/>
                <a:cs typeface="Roboto"/>
                <a:sym typeface="Roboto"/>
              </a:rPr>
              <a:t>métricas clave </a:t>
            </a:r>
            <a:r>
              <a:rPr lang="es" sz="1500">
                <a:latin typeface="Roboto"/>
                <a:ea typeface="Roboto"/>
                <a:cs typeface="Roboto"/>
                <a:sym typeface="Roboto"/>
              </a:rPr>
              <a:t>con el objetivo de obtener patrones de comportamiento y oportunidades de mejora.</a:t>
            </a:r>
            <a:endParaRPr sz="1500">
              <a:latin typeface="Roboto"/>
              <a:ea typeface="Roboto"/>
              <a:cs typeface="Roboto"/>
              <a:sym typeface="Roboto"/>
            </a:endParaRPr>
          </a:p>
          <a:p>
            <a:pPr indent="0" lvl="0" marL="0" rtl="0" algn="just">
              <a:spcBef>
                <a:spcPts val="1200"/>
              </a:spcBef>
              <a:spcAft>
                <a:spcPts val="0"/>
              </a:spcAft>
              <a:buNone/>
            </a:pPr>
            <a:r>
              <a:rPr lang="es" sz="1500">
                <a:latin typeface="Roboto"/>
                <a:ea typeface="Roboto"/>
                <a:cs typeface="Roboto"/>
                <a:sym typeface="Roboto"/>
              </a:rPr>
              <a:t>Estos resultados permitirán a Ironhack </a:t>
            </a:r>
            <a:r>
              <a:rPr b="1" lang="es" sz="1500">
                <a:latin typeface="Roboto"/>
                <a:ea typeface="Roboto"/>
                <a:cs typeface="Roboto"/>
                <a:sym typeface="Roboto"/>
              </a:rPr>
              <a:t>optimizar la toma de decisiones </a:t>
            </a:r>
            <a:r>
              <a:rPr lang="es" sz="1500">
                <a:latin typeface="Roboto"/>
                <a:ea typeface="Roboto"/>
                <a:cs typeface="Roboto"/>
                <a:sym typeface="Roboto"/>
              </a:rPr>
              <a:t>estratégicas, </a:t>
            </a:r>
            <a:r>
              <a:rPr b="1" lang="es" sz="1500">
                <a:latin typeface="Roboto"/>
                <a:ea typeface="Roboto"/>
                <a:cs typeface="Roboto"/>
                <a:sym typeface="Roboto"/>
              </a:rPr>
              <a:t>mejorar el servicio</a:t>
            </a:r>
            <a:r>
              <a:rPr lang="es" sz="1500">
                <a:latin typeface="Roboto"/>
                <a:ea typeface="Roboto"/>
                <a:cs typeface="Roboto"/>
                <a:sym typeface="Roboto"/>
              </a:rPr>
              <a:t>, </a:t>
            </a:r>
            <a:r>
              <a:rPr b="1" lang="es" sz="1500">
                <a:latin typeface="Roboto"/>
                <a:ea typeface="Roboto"/>
                <a:cs typeface="Roboto"/>
                <a:sym typeface="Roboto"/>
              </a:rPr>
              <a:t>ampliar su cartera de clientes</a:t>
            </a:r>
            <a:r>
              <a:rPr lang="es" sz="1500">
                <a:latin typeface="Roboto"/>
                <a:ea typeface="Roboto"/>
                <a:cs typeface="Roboto"/>
                <a:sym typeface="Roboto"/>
              </a:rPr>
              <a:t> y con esto </a:t>
            </a:r>
            <a:r>
              <a:rPr b="1" lang="es" sz="1500">
                <a:latin typeface="Roboto"/>
                <a:ea typeface="Roboto"/>
                <a:cs typeface="Roboto"/>
                <a:sym typeface="Roboto"/>
              </a:rPr>
              <a:t>aumentar la rentabilidad</a:t>
            </a:r>
            <a:r>
              <a:rPr lang="es" sz="1500">
                <a:latin typeface="Roboto"/>
                <a:ea typeface="Roboto"/>
                <a:cs typeface="Roboto"/>
                <a:sym typeface="Roboto"/>
              </a:rPr>
              <a:t> del negocio.</a:t>
            </a:r>
            <a:endParaRPr sz="1500">
              <a:latin typeface="Roboto"/>
              <a:ea typeface="Roboto"/>
              <a:cs typeface="Roboto"/>
              <a:sym typeface="Roboto"/>
            </a:endParaRPr>
          </a:p>
          <a:p>
            <a:pPr indent="0" lvl="0" marL="0" rtl="0" algn="l">
              <a:spcBef>
                <a:spcPts val="1200"/>
              </a:spcBef>
              <a:spcAft>
                <a:spcPts val="1200"/>
              </a:spcAft>
              <a:buNone/>
            </a:pPr>
            <a:r>
              <a:t/>
            </a:r>
            <a:endParaRPr sz="1400">
              <a:latin typeface="Roboto"/>
              <a:ea typeface="Roboto"/>
              <a:cs typeface="Roboto"/>
              <a:sym typeface="Roboto"/>
            </a:endParaRPr>
          </a:p>
        </p:txBody>
      </p:sp>
      <p:sp>
        <p:nvSpPr>
          <p:cNvPr id="147" name="Google Shape;147;p15"/>
          <p:cNvSpPr txBox="1"/>
          <p:nvPr>
            <p:ph idx="4294967295" type="ctrTitle"/>
          </p:nvPr>
        </p:nvSpPr>
        <p:spPr>
          <a:xfrm>
            <a:off x="1297500" y="643650"/>
            <a:ext cx="7038900" cy="741600"/>
          </a:xfrm>
          <a:prstGeom prst="rect">
            <a:avLst/>
          </a:prstGeom>
        </p:spPr>
        <p:txBody>
          <a:bodyPr anchorCtr="0" anchor="ctr" bIns="91425" lIns="91425" spcFirstLastPara="1" rIns="91425" wrap="square" tIns="91425">
            <a:normAutofit/>
          </a:bodyPr>
          <a:lstStyle/>
          <a:p>
            <a:pPr indent="0" lvl="0" marL="0" rtl="0" algn="ctr">
              <a:lnSpc>
                <a:spcPct val="115000"/>
              </a:lnSpc>
              <a:spcBef>
                <a:spcPts val="1200"/>
              </a:spcBef>
              <a:spcAft>
                <a:spcPts val="1200"/>
              </a:spcAft>
              <a:buNone/>
            </a:pPr>
            <a:r>
              <a:rPr lang="es" sz="2400">
                <a:latin typeface="Roboto"/>
                <a:ea typeface="Roboto"/>
                <a:cs typeface="Roboto"/>
                <a:sym typeface="Roboto"/>
              </a:rPr>
              <a:t>INTRODUCCIÓN Y OBJETIVO DEL PROYECTO</a:t>
            </a:r>
            <a:endParaRPr sz="2400">
              <a:latin typeface="Roboto"/>
              <a:ea typeface="Roboto"/>
              <a:cs typeface="Roboto"/>
              <a:sym typeface="Roboto"/>
            </a:endParaRPr>
          </a:p>
        </p:txBody>
      </p:sp>
      <p:sp>
        <p:nvSpPr>
          <p:cNvPr id="148" name="Google Shape;148;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405325"/>
            <a:ext cx="7038900" cy="914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sz="1800">
                <a:latin typeface="Roboto"/>
                <a:ea typeface="Roboto"/>
                <a:cs typeface="Roboto"/>
                <a:sym typeface="Roboto"/>
              </a:rPr>
              <a:t>PREPARACIÓN E IMPLEMENTACIÓN</a:t>
            </a:r>
            <a:endParaRPr>
              <a:latin typeface="Roboto"/>
              <a:ea typeface="Roboto"/>
              <a:cs typeface="Roboto"/>
              <a:sym typeface="Roboto"/>
            </a:endParaRPr>
          </a:p>
        </p:txBody>
      </p:sp>
      <p:grpSp>
        <p:nvGrpSpPr>
          <p:cNvPr id="154" name="Google Shape;154;p16"/>
          <p:cNvGrpSpPr/>
          <p:nvPr/>
        </p:nvGrpSpPr>
        <p:grpSpPr>
          <a:xfrm>
            <a:off x="1131625" y="2013875"/>
            <a:ext cx="1944600" cy="1569600"/>
            <a:chOff x="1126863" y="2013875"/>
            <a:chExt cx="1944600" cy="1569600"/>
          </a:xfrm>
        </p:grpSpPr>
        <p:sp>
          <p:nvSpPr>
            <p:cNvPr id="155" name="Google Shape;155;p16"/>
            <p:cNvSpPr/>
            <p:nvPr/>
          </p:nvSpPr>
          <p:spPr>
            <a:xfrm>
              <a:off x="1126863" y="2013875"/>
              <a:ext cx="1944600" cy="1569600"/>
            </a:xfrm>
            <a:prstGeom prst="round2DiagRect">
              <a:avLst>
                <a:gd fmla="val 0" name="adj1"/>
                <a:gd fmla="val 17764"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6"/>
            <p:cNvSpPr txBox="1"/>
            <p:nvPr/>
          </p:nvSpPr>
          <p:spPr>
            <a:xfrm>
              <a:off x="1373313" y="2618675"/>
              <a:ext cx="1451700" cy="3600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600">
                  <a:solidFill>
                    <a:srgbClr val="FFFFFF"/>
                  </a:solidFill>
                  <a:latin typeface="Roboto"/>
                  <a:ea typeface="Roboto"/>
                  <a:cs typeface="Roboto"/>
                  <a:sym typeface="Roboto"/>
                </a:rPr>
                <a:t>OBJETIVO</a:t>
              </a:r>
              <a:endParaRPr sz="1600">
                <a:solidFill>
                  <a:srgbClr val="FFFFFF"/>
                </a:solidFill>
                <a:latin typeface="Roboto"/>
                <a:ea typeface="Roboto"/>
                <a:cs typeface="Roboto"/>
                <a:sym typeface="Roboto"/>
              </a:endParaRPr>
            </a:p>
          </p:txBody>
        </p:sp>
      </p:grpSp>
      <p:grpSp>
        <p:nvGrpSpPr>
          <p:cNvPr id="157" name="Google Shape;157;p16"/>
          <p:cNvGrpSpPr/>
          <p:nvPr/>
        </p:nvGrpSpPr>
        <p:grpSpPr>
          <a:xfrm>
            <a:off x="3076150" y="2013875"/>
            <a:ext cx="4940876" cy="1569600"/>
            <a:chOff x="5015938" y="2013875"/>
            <a:chExt cx="3001200" cy="1569600"/>
          </a:xfrm>
        </p:grpSpPr>
        <p:sp>
          <p:nvSpPr>
            <p:cNvPr id="158" name="Google Shape;158;p16"/>
            <p:cNvSpPr/>
            <p:nvPr/>
          </p:nvSpPr>
          <p:spPr>
            <a:xfrm>
              <a:off x="5015938" y="2013875"/>
              <a:ext cx="3001200" cy="1569600"/>
            </a:xfrm>
            <a:prstGeom prst="round2DiagRect">
              <a:avLst>
                <a:gd fmla="val 0" name="adj1"/>
                <a:gd fmla="val 17764" name="adj2"/>
              </a:avLst>
            </a:prstGeom>
            <a:gradFill>
              <a:gsLst>
                <a:gs pos="0">
                  <a:srgbClr val="3176EE"/>
                </a:gs>
                <a:gs pos="100000">
                  <a:srgbClr val="113D8A"/>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9" name="Google Shape;159;p16"/>
            <p:cNvSpPr txBox="1"/>
            <p:nvPr/>
          </p:nvSpPr>
          <p:spPr>
            <a:xfrm>
              <a:off x="5344052" y="2259413"/>
              <a:ext cx="2417100" cy="10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800">
                <a:solidFill>
                  <a:schemeClr val="lt1"/>
                </a:solidFill>
                <a:latin typeface="Lato"/>
                <a:ea typeface="Lato"/>
                <a:cs typeface="Lato"/>
                <a:sym typeface="Lato"/>
              </a:endParaRPr>
            </a:p>
            <a:p>
              <a:pPr indent="0" lvl="0" marL="0" rtl="0" algn="l">
                <a:spcBef>
                  <a:spcPts val="0"/>
                </a:spcBef>
                <a:spcAft>
                  <a:spcPts val="0"/>
                </a:spcAft>
                <a:buNone/>
              </a:pPr>
              <a:r>
                <a:rPr lang="es">
                  <a:solidFill>
                    <a:schemeClr val="lt1"/>
                  </a:solidFill>
                  <a:latin typeface="Roboto"/>
                  <a:ea typeface="Roboto"/>
                  <a:cs typeface="Roboto"/>
                  <a:sym typeface="Roboto"/>
                </a:rPr>
                <a:t>Preparación de los datos de IronHack Payments para el análisis de sus cohortes, garantizando su calidad y coherencia.</a:t>
              </a:r>
              <a:endParaRPr>
                <a:solidFill>
                  <a:srgbClr val="FFFFFF"/>
                </a:solidFill>
                <a:latin typeface="Roboto"/>
                <a:ea typeface="Roboto"/>
                <a:cs typeface="Roboto"/>
                <a:sym typeface="Roboto"/>
              </a:endParaRPr>
            </a:p>
          </p:txBody>
        </p:sp>
      </p:grpSp>
      <p:grpSp>
        <p:nvGrpSpPr>
          <p:cNvPr id="160" name="Google Shape;160;p16"/>
          <p:cNvGrpSpPr/>
          <p:nvPr/>
        </p:nvGrpSpPr>
        <p:grpSpPr>
          <a:xfrm>
            <a:off x="2929384" y="2668482"/>
            <a:ext cx="261571" cy="260379"/>
            <a:chOff x="4858109" y="2631368"/>
            <a:chExt cx="316442" cy="315000"/>
          </a:xfrm>
        </p:grpSpPr>
        <p:sp>
          <p:nvSpPr>
            <p:cNvPr id="161" name="Google Shape;161;p16"/>
            <p:cNvSpPr/>
            <p:nvPr/>
          </p:nvSpPr>
          <p:spPr>
            <a:xfrm>
              <a:off x="4859551" y="2631368"/>
              <a:ext cx="315000" cy="3150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6"/>
            <p:cNvSpPr/>
            <p:nvPr/>
          </p:nvSpPr>
          <p:spPr>
            <a:xfrm>
              <a:off x="4858109" y="2739300"/>
              <a:ext cx="239100" cy="99000"/>
            </a:xfrm>
            <a:prstGeom prst="rightArrow">
              <a:avLst>
                <a:gd fmla="val 32020" name="adj1"/>
                <a:gd fmla="val 66970" name="adj2"/>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s"/>
              </a:br>
              <a:endParaRPr/>
            </a:p>
          </p:txBody>
        </p:sp>
      </p:grpSp>
      <p:sp>
        <p:nvSpPr>
          <p:cNvPr id="163" name="Google Shape;163;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67" name="Shape 167"/>
        <p:cNvGrpSpPr/>
        <p:nvPr/>
      </p:nvGrpSpPr>
      <p:grpSpPr>
        <a:xfrm>
          <a:off x="0" y="0"/>
          <a:ext cx="0" cy="0"/>
          <a:chOff x="0" y="0"/>
          <a:chExt cx="0" cy="0"/>
        </a:xfrm>
      </p:grpSpPr>
      <p:grpSp>
        <p:nvGrpSpPr>
          <p:cNvPr id="168" name="Google Shape;168;p17"/>
          <p:cNvGrpSpPr/>
          <p:nvPr/>
        </p:nvGrpSpPr>
        <p:grpSpPr>
          <a:xfrm>
            <a:off x="474606" y="1747675"/>
            <a:ext cx="7635741" cy="2095043"/>
            <a:chOff x="1593000" y="2322568"/>
            <a:chExt cx="5957975" cy="643500"/>
          </a:xfrm>
        </p:grpSpPr>
        <p:sp>
          <p:nvSpPr>
            <p:cNvPr id="169" name="Google Shape;169;p17"/>
            <p:cNvSpPr/>
            <p:nvPr/>
          </p:nvSpPr>
          <p:spPr>
            <a:xfrm>
              <a:off x="3728375" y="2322568"/>
              <a:ext cx="3822600" cy="643500"/>
            </a:xfrm>
            <a:prstGeom prst="rect">
              <a:avLst/>
            </a:prstGeom>
            <a:gradFill>
              <a:gsLst>
                <a:gs pos="0">
                  <a:srgbClr val="FFFFFF"/>
                </a:gs>
                <a:gs pos="100000">
                  <a:srgbClr val="B3B3B3"/>
                </a:gs>
              </a:gsLst>
              <a:lin ang="5400012" scaled="0"/>
            </a:gradFill>
            <a:ln>
              <a:noFill/>
            </a:ln>
          </p:spPr>
          <p:txBody>
            <a:bodyPr anchorCtr="0" anchor="ctr" bIns="170700" lIns="170700" spcFirstLastPara="1" rIns="170700" wrap="square" tIns="170700">
              <a:noAutofit/>
            </a:bodyPr>
            <a:lstStyle/>
            <a:p>
              <a:pPr indent="0" lvl="0" marL="0" rtl="0" algn="l">
                <a:spcBef>
                  <a:spcPts val="0"/>
                </a:spcBef>
                <a:spcAft>
                  <a:spcPts val="0"/>
                </a:spcAft>
                <a:buNone/>
              </a:pPr>
              <a:r>
                <a:t/>
              </a:r>
              <a:endParaRPr/>
            </a:p>
          </p:txBody>
        </p:sp>
        <p:sp>
          <p:nvSpPr>
            <p:cNvPr id="170" name="Google Shape;170;p17"/>
            <p:cNvSpPr/>
            <p:nvPr/>
          </p:nvSpPr>
          <p:spPr>
            <a:xfrm rot="-5400000">
              <a:off x="3070875" y="1503962"/>
              <a:ext cx="643356" cy="2280567"/>
            </a:xfrm>
            <a:prstGeom prst="flowChartOffpageConnector">
              <a:avLst/>
            </a:prstGeom>
            <a:gradFill>
              <a:gsLst>
                <a:gs pos="0">
                  <a:srgbClr val="3176EE"/>
                </a:gs>
                <a:gs pos="100000">
                  <a:srgbClr val="113D8A"/>
                </a:gs>
              </a:gsLst>
              <a:lin ang="5400012" scaled="0"/>
            </a:gradFill>
            <a:ln>
              <a:noFill/>
            </a:ln>
          </p:spPr>
          <p:txBody>
            <a:bodyPr anchorCtr="0" anchor="ctr" bIns="170700" lIns="170700" spcFirstLastPara="1" rIns="170700" wrap="square" tIns="170700">
              <a:noAutofit/>
            </a:bodyPr>
            <a:lstStyle/>
            <a:p>
              <a:pPr indent="0" lvl="0" marL="0" rtl="0" algn="l">
                <a:spcBef>
                  <a:spcPts val="0"/>
                </a:spcBef>
                <a:spcAft>
                  <a:spcPts val="0"/>
                </a:spcAft>
                <a:buNone/>
              </a:pPr>
              <a:r>
                <a:t/>
              </a:r>
              <a:endParaRPr/>
            </a:p>
          </p:txBody>
        </p:sp>
        <p:sp>
          <p:nvSpPr>
            <p:cNvPr id="171" name="Google Shape;171;p17"/>
            <p:cNvSpPr/>
            <p:nvPr/>
          </p:nvSpPr>
          <p:spPr>
            <a:xfrm>
              <a:off x="2342625" y="2399951"/>
              <a:ext cx="1940700" cy="495900"/>
            </a:xfrm>
            <a:prstGeom prst="rect">
              <a:avLst/>
            </a:prstGeom>
            <a:noFill/>
            <a:ln>
              <a:noFill/>
            </a:ln>
          </p:spPr>
          <p:txBody>
            <a:bodyPr anchorCtr="0" anchor="ctr" bIns="170700" lIns="170700" spcFirstLastPara="1" rIns="170700" wrap="square" tIns="170700">
              <a:noAutofit/>
            </a:bodyPr>
            <a:lstStyle/>
            <a:p>
              <a:pPr indent="0" lvl="0" marL="0" rtl="0" algn="l">
                <a:spcBef>
                  <a:spcPts val="0"/>
                </a:spcBef>
                <a:spcAft>
                  <a:spcPts val="0"/>
                </a:spcAft>
                <a:buNone/>
              </a:pPr>
              <a:r>
                <a:rPr lang="es" sz="1600">
                  <a:solidFill>
                    <a:schemeClr val="lt1"/>
                  </a:solidFill>
                  <a:latin typeface="Roboto"/>
                  <a:ea typeface="Roboto"/>
                  <a:cs typeface="Roboto"/>
                  <a:sym typeface="Roboto"/>
                </a:rPr>
                <a:t>Carga y comprensión inicial de los dataset</a:t>
              </a:r>
              <a:endParaRPr sz="1600">
                <a:solidFill>
                  <a:srgbClr val="FFFFFF"/>
                </a:solidFill>
                <a:latin typeface="Roboto Medium"/>
                <a:ea typeface="Roboto Medium"/>
                <a:cs typeface="Roboto Medium"/>
                <a:sym typeface="Roboto Medium"/>
              </a:endParaRPr>
            </a:p>
          </p:txBody>
        </p:sp>
        <p:sp>
          <p:nvSpPr>
            <p:cNvPr id="172" name="Google Shape;172;p17"/>
            <p:cNvSpPr/>
            <p:nvPr/>
          </p:nvSpPr>
          <p:spPr>
            <a:xfrm>
              <a:off x="1593000" y="2322568"/>
              <a:ext cx="690000" cy="642300"/>
            </a:xfrm>
            <a:prstGeom prst="rect">
              <a:avLst/>
            </a:prstGeom>
            <a:solidFill>
              <a:srgbClr val="B02B20"/>
            </a:solidFill>
            <a:ln>
              <a:noFill/>
            </a:ln>
            <a:effectLst>
              <a:outerShdw blurRad="133390" rotWithShape="0" algn="bl" dir="2700000" dist="53356">
                <a:srgbClr val="000000">
                  <a:alpha val="17000"/>
                </a:srgbClr>
              </a:outerShdw>
            </a:effectLst>
          </p:spPr>
          <p:txBody>
            <a:bodyPr anchorCtr="0" anchor="ctr" bIns="170700" lIns="170700" spcFirstLastPara="1" rIns="170700" wrap="square" tIns="170700">
              <a:noAutofit/>
            </a:bodyPr>
            <a:lstStyle/>
            <a:p>
              <a:pPr indent="0" lvl="0" marL="0" rtl="0" algn="l">
                <a:spcBef>
                  <a:spcPts val="0"/>
                </a:spcBef>
                <a:spcAft>
                  <a:spcPts val="0"/>
                </a:spcAft>
                <a:buNone/>
              </a:pPr>
              <a:r>
                <a:t/>
              </a:r>
              <a:endParaRPr/>
            </a:p>
          </p:txBody>
        </p:sp>
        <p:sp>
          <p:nvSpPr>
            <p:cNvPr id="173" name="Google Shape;173;p17"/>
            <p:cNvSpPr/>
            <p:nvPr/>
          </p:nvSpPr>
          <p:spPr>
            <a:xfrm>
              <a:off x="1593000" y="2322575"/>
              <a:ext cx="690000" cy="642600"/>
            </a:xfrm>
            <a:prstGeom prst="rect">
              <a:avLst/>
            </a:prstGeom>
            <a:solidFill>
              <a:schemeClr val="accent1"/>
            </a:solidFill>
            <a:ln>
              <a:noFill/>
            </a:ln>
          </p:spPr>
          <p:txBody>
            <a:bodyPr anchorCtr="0" anchor="ctr" bIns="170700" lIns="170700" spcFirstLastPara="1" rIns="170700" wrap="square" tIns="170700">
              <a:noAutofit/>
            </a:bodyPr>
            <a:lstStyle/>
            <a:p>
              <a:pPr indent="0" lvl="0" marL="0" rtl="0" algn="ctr">
                <a:spcBef>
                  <a:spcPts val="0"/>
                </a:spcBef>
                <a:spcAft>
                  <a:spcPts val="0"/>
                </a:spcAft>
                <a:buNone/>
              </a:pPr>
              <a:r>
                <a:rPr b="1" lang="es" sz="1800">
                  <a:solidFill>
                    <a:srgbClr val="FFFFFF"/>
                  </a:solidFill>
                  <a:latin typeface="Roboto"/>
                  <a:ea typeface="Roboto"/>
                  <a:cs typeface="Roboto"/>
                  <a:sym typeface="Roboto"/>
                </a:rPr>
                <a:t>01</a:t>
              </a:r>
              <a:endParaRPr b="1" sz="1800">
                <a:solidFill>
                  <a:srgbClr val="FFFFFF"/>
                </a:solidFill>
                <a:latin typeface="Roboto"/>
                <a:ea typeface="Roboto"/>
                <a:cs typeface="Roboto"/>
                <a:sym typeface="Roboto"/>
              </a:endParaRPr>
            </a:p>
          </p:txBody>
        </p:sp>
        <p:sp>
          <p:nvSpPr>
            <p:cNvPr id="174" name="Google Shape;174;p17"/>
            <p:cNvSpPr/>
            <p:nvPr/>
          </p:nvSpPr>
          <p:spPr>
            <a:xfrm>
              <a:off x="4532837" y="2323751"/>
              <a:ext cx="2826000" cy="642300"/>
            </a:xfrm>
            <a:prstGeom prst="rect">
              <a:avLst/>
            </a:prstGeom>
            <a:noFill/>
            <a:ln>
              <a:noFill/>
            </a:ln>
          </p:spPr>
          <p:txBody>
            <a:bodyPr anchorCtr="0" anchor="ctr" bIns="170700" lIns="170700" spcFirstLastPara="1" rIns="170700" wrap="square" tIns="170700">
              <a:noAutofit/>
            </a:bodyPr>
            <a:lstStyle/>
            <a:p>
              <a:pPr indent="0" lvl="0" marL="0" rtl="0" algn="l">
                <a:lnSpc>
                  <a:spcPct val="115000"/>
                </a:lnSpc>
                <a:spcBef>
                  <a:spcPts val="0"/>
                </a:spcBef>
                <a:spcAft>
                  <a:spcPts val="0"/>
                </a:spcAft>
                <a:buNone/>
              </a:pPr>
              <a:r>
                <a:rPr lang="es">
                  <a:solidFill>
                    <a:schemeClr val="dk1"/>
                  </a:solidFill>
                  <a:latin typeface="Roboto"/>
                  <a:ea typeface="Roboto"/>
                  <a:cs typeface="Roboto"/>
                  <a:sym typeface="Roboto"/>
                </a:rPr>
                <a:t>Inspección del tamaño, tipo de variables y estructura general de ‘Cash’, ‘Fees’ y ‘Lexique’.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b="1" lang="es">
                  <a:solidFill>
                    <a:schemeClr val="dk1"/>
                  </a:solidFill>
                  <a:latin typeface="Roboto"/>
                  <a:ea typeface="Roboto"/>
                  <a:cs typeface="Roboto"/>
                  <a:sym typeface="Roboto"/>
                </a:rPr>
                <a:t>df.shape</a:t>
              </a:r>
              <a:endParaRPr b="1">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b="1" lang="es">
                  <a:solidFill>
                    <a:schemeClr val="dk1"/>
                  </a:solidFill>
                  <a:latin typeface="Roboto"/>
                  <a:ea typeface="Roboto"/>
                  <a:cs typeface="Roboto"/>
                  <a:sym typeface="Roboto"/>
                </a:rPr>
                <a:t>df.info()</a:t>
              </a:r>
              <a:endParaRPr b="1">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b="1" lang="es">
                  <a:solidFill>
                    <a:schemeClr val="dk1"/>
                  </a:solidFill>
                  <a:latin typeface="Roboto"/>
                  <a:ea typeface="Roboto"/>
                  <a:cs typeface="Roboto"/>
                  <a:sym typeface="Roboto"/>
                </a:rPr>
                <a:t>df.head()</a:t>
              </a:r>
              <a:endParaRPr b="1">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b="1" lang="es">
                  <a:solidFill>
                    <a:schemeClr val="dk1"/>
                  </a:solidFill>
                  <a:latin typeface="Roboto"/>
                  <a:ea typeface="Roboto"/>
                  <a:cs typeface="Roboto"/>
                  <a:sym typeface="Roboto"/>
                </a:rPr>
                <a:t>df.describe()</a:t>
              </a:r>
              <a:endParaRPr b="1">
                <a:solidFill>
                  <a:schemeClr val="dk1"/>
                </a:solidFill>
                <a:latin typeface="Roboto"/>
                <a:ea typeface="Roboto"/>
                <a:cs typeface="Roboto"/>
                <a:sym typeface="Roboto"/>
              </a:endParaRPr>
            </a:p>
          </p:txBody>
        </p:sp>
      </p:grpSp>
      <p:sp>
        <p:nvSpPr>
          <p:cNvPr id="175" name="Google Shape;175;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76" name="Google Shape;176;p17"/>
          <p:cNvSpPr txBox="1"/>
          <p:nvPr>
            <p:ph type="title"/>
          </p:nvPr>
        </p:nvSpPr>
        <p:spPr>
          <a:xfrm>
            <a:off x="1297500" y="405325"/>
            <a:ext cx="7038900" cy="914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sz="1800">
                <a:latin typeface="Roboto"/>
                <a:ea typeface="Roboto"/>
                <a:cs typeface="Roboto"/>
                <a:sym typeface="Roboto"/>
              </a:rPr>
              <a:t>IMPLEMENTACIÓN</a:t>
            </a:r>
            <a:endParaRPr>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80" name="Shape 180"/>
        <p:cNvGrpSpPr/>
        <p:nvPr/>
      </p:nvGrpSpPr>
      <p:grpSpPr>
        <a:xfrm>
          <a:off x="0" y="0"/>
          <a:ext cx="0" cy="0"/>
          <a:chOff x="0" y="0"/>
          <a:chExt cx="0" cy="0"/>
        </a:xfrm>
      </p:grpSpPr>
      <p:grpSp>
        <p:nvGrpSpPr>
          <p:cNvPr id="181" name="Google Shape;181;p18"/>
          <p:cNvGrpSpPr/>
          <p:nvPr/>
        </p:nvGrpSpPr>
        <p:grpSpPr>
          <a:xfrm>
            <a:off x="474606" y="1747675"/>
            <a:ext cx="7635741" cy="2095043"/>
            <a:chOff x="1593000" y="2322568"/>
            <a:chExt cx="5957975" cy="643500"/>
          </a:xfrm>
        </p:grpSpPr>
        <p:sp>
          <p:nvSpPr>
            <p:cNvPr id="182" name="Google Shape;182;p18"/>
            <p:cNvSpPr/>
            <p:nvPr/>
          </p:nvSpPr>
          <p:spPr>
            <a:xfrm>
              <a:off x="3728375" y="2322568"/>
              <a:ext cx="3822600" cy="643500"/>
            </a:xfrm>
            <a:prstGeom prst="rect">
              <a:avLst/>
            </a:prstGeom>
            <a:gradFill>
              <a:gsLst>
                <a:gs pos="0">
                  <a:srgbClr val="FFFFFF"/>
                </a:gs>
                <a:gs pos="100000">
                  <a:srgbClr val="B3B3B3"/>
                </a:gs>
              </a:gsLst>
              <a:lin ang="5400012" scaled="0"/>
            </a:gradFill>
            <a:ln>
              <a:noFill/>
            </a:ln>
          </p:spPr>
          <p:txBody>
            <a:bodyPr anchorCtr="0" anchor="ctr" bIns="170700" lIns="170700" spcFirstLastPara="1" rIns="170700" wrap="square" tIns="170700">
              <a:noAutofit/>
            </a:bodyPr>
            <a:lstStyle/>
            <a:p>
              <a:pPr indent="0" lvl="0" marL="0" rtl="0" algn="l">
                <a:spcBef>
                  <a:spcPts val="0"/>
                </a:spcBef>
                <a:spcAft>
                  <a:spcPts val="0"/>
                </a:spcAft>
                <a:buNone/>
              </a:pPr>
              <a:r>
                <a:t/>
              </a:r>
              <a:endParaRPr/>
            </a:p>
          </p:txBody>
        </p:sp>
        <p:sp>
          <p:nvSpPr>
            <p:cNvPr id="183" name="Google Shape;183;p18"/>
            <p:cNvSpPr/>
            <p:nvPr/>
          </p:nvSpPr>
          <p:spPr>
            <a:xfrm rot="-5400000">
              <a:off x="3052811" y="1485899"/>
              <a:ext cx="643356" cy="2316694"/>
            </a:xfrm>
            <a:prstGeom prst="flowChartOffpageConnector">
              <a:avLst/>
            </a:prstGeom>
            <a:gradFill>
              <a:gsLst>
                <a:gs pos="0">
                  <a:srgbClr val="74B696"/>
                </a:gs>
                <a:gs pos="100000">
                  <a:srgbClr val="BCE4D1"/>
                </a:gs>
              </a:gsLst>
              <a:lin ang="10800025" scaled="0"/>
            </a:gradFill>
            <a:ln>
              <a:noFill/>
            </a:ln>
          </p:spPr>
          <p:txBody>
            <a:bodyPr anchorCtr="0" anchor="ctr" bIns="170700" lIns="170700" spcFirstLastPara="1" rIns="170700" wrap="square" tIns="170700">
              <a:noAutofit/>
            </a:bodyPr>
            <a:lstStyle/>
            <a:p>
              <a:pPr indent="0" lvl="0" marL="0" rtl="0" algn="l">
                <a:spcBef>
                  <a:spcPts val="0"/>
                </a:spcBef>
                <a:spcAft>
                  <a:spcPts val="0"/>
                </a:spcAft>
                <a:buNone/>
              </a:pPr>
              <a:r>
                <a:t/>
              </a:r>
              <a:endParaRPr/>
            </a:p>
          </p:txBody>
        </p:sp>
        <p:sp>
          <p:nvSpPr>
            <p:cNvPr id="184" name="Google Shape;184;p18"/>
            <p:cNvSpPr/>
            <p:nvPr/>
          </p:nvSpPr>
          <p:spPr>
            <a:xfrm>
              <a:off x="2282993" y="2399948"/>
              <a:ext cx="2000400" cy="495900"/>
            </a:xfrm>
            <a:prstGeom prst="rect">
              <a:avLst/>
            </a:prstGeom>
            <a:noFill/>
            <a:ln>
              <a:noFill/>
            </a:ln>
          </p:spPr>
          <p:txBody>
            <a:bodyPr anchorCtr="0" anchor="ctr" bIns="170700" lIns="170700" spcFirstLastPara="1" rIns="170700" wrap="square" tIns="170700">
              <a:noAutofit/>
            </a:bodyPr>
            <a:lstStyle/>
            <a:p>
              <a:pPr indent="0" lvl="0" marL="0" rtl="0" algn="ctr">
                <a:spcBef>
                  <a:spcPts val="0"/>
                </a:spcBef>
                <a:spcAft>
                  <a:spcPts val="0"/>
                </a:spcAft>
                <a:buNone/>
              </a:pPr>
              <a:r>
                <a:rPr lang="es" sz="1600">
                  <a:solidFill>
                    <a:schemeClr val="lt1"/>
                  </a:solidFill>
                  <a:latin typeface="Roboto"/>
                  <a:ea typeface="Roboto"/>
                  <a:cs typeface="Roboto"/>
                  <a:sym typeface="Roboto"/>
                </a:rPr>
                <a:t>Estandarización y limpieza de datos</a:t>
              </a:r>
              <a:endParaRPr sz="1600">
                <a:solidFill>
                  <a:srgbClr val="FFFFFF"/>
                </a:solidFill>
                <a:latin typeface="Roboto Medium"/>
                <a:ea typeface="Roboto Medium"/>
                <a:cs typeface="Roboto Medium"/>
                <a:sym typeface="Roboto Medium"/>
              </a:endParaRPr>
            </a:p>
          </p:txBody>
        </p:sp>
        <p:sp>
          <p:nvSpPr>
            <p:cNvPr id="185" name="Google Shape;185;p18"/>
            <p:cNvSpPr/>
            <p:nvPr/>
          </p:nvSpPr>
          <p:spPr>
            <a:xfrm>
              <a:off x="1593000" y="2322568"/>
              <a:ext cx="690000" cy="642300"/>
            </a:xfrm>
            <a:prstGeom prst="rect">
              <a:avLst/>
            </a:prstGeom>
            <a:solidFill>
              <a:srgbClr val="B02B20"/>
            </a:solidFill>
            <a:ln>
              <a:noFill/>
            </a:ln>
            <a:effectLst>
              <a:outerShdw blurRad="133390" rotWithShape="0" algn="bl" dir="2700000" dist="53356">
                <a:srgbClr val="000000">
                  <a:alpha val="17000"/>
                </a:srgbClr>
              </a:outerShdw>
            </a:effectLst>
          </p:spPr>
          <p:txBody>
            <a:bodyPr anchorCtr="0" anchor="ctr" bIns="170700" lIns="170700" spcFirstLastPara="1" rIns="170700" wrap="square" tIns="170700">
              <a:noAutofit/>
            </a:bodyPr>
            <a:lstStyle/>
            <a:p>
              <a:pPr indent="0" lvl="0" marL="0" rtl="0" algn="l">
                <a:spcBef>
                  <a:spcPts val="0"/>
                </a:spcBef>
                <a:spcAft>
                  <a:spcPts val="0"/>
                </a:spcAft>
                <a:buNone/>
              </a:pPr>
              <a:r>
                <a:t/>
              </a:r>
              <a:endParaRPr/>
            </a:p>
          </p:txBody>
        </p:sp>
        <p:sp>
          <p:nvSpPr>
            <p:cNvPr id="186" name="Google Shape;186;p18"/>
            <p:cNvSpPr/>
            <p:nvPr/>
          </p:nvSpPr>
          <p:spPr>
            <a:xfrm>
              <a:off x="1593000" y="2322575"/>
              <a:ext cx="690000" cy="642600"/>
            </a:xfrm>
            <a:prstGeom prst="rect">
              <a:avLst/>
            </a:prstGeom>
            <a:solidFill>
              <a:schemeClr val="lt2"/>
            </a:solidFill>
            <a:ln>
              <a:noFill/>
            </a:ln>
          </p:spPr>
          <p:txBody>
            <a:bodyPr anchorCtr="0" anchor="ctr" bIns="170700" lIns="170700" spcFirstLastPara="1" rIns="170700" wrap="square" tIns="170700">
              <a:noAutofit/>
            </a:bodyPr>
            <a:lstStyle/>
            <a:p>
              <a:pPr indent="0" lvl="0" marL="0" rtl="0" algn="ctr">
                <a:spcBef>
                  <a:spcPts val="0"/>
                </a:spcBef>
                <a:spcAft>
                  <a:spcPts val="0"/>
                </a:spcAft>
                <a:buNone/>
              </a:pPr>
              <a:r>
                <a:rPr b="1" lang="es" sz="1800">
                  <a:solidFill>
                    <a:srgbClr val="FFFFFF"/>
                  </a:solidFill>
                  <a:latin typeface="Roboto"/>
                  <a:ea typeface="Roboto"/>
                  <a:cs typeface="Roboto"/>
                  <a:sym typeface="Roboto"/>
                </a:rPr>
                <a:t>02</a:t>
              </a:r>
              <a:endParaRPr b="1" sz="1800">
                <a:solidFill>
                  <a:srgbClr val="FFFFFF"/>
                </a:solidFill>
                <a:latin typeface="Roboto"/>
                <a:ea typeface="Roboto"/>
                <a:cs typeface="Roboto"/>
                <a:sym typeface="Roboto"/>
              </a:endParaRPr>
            </a:p>
          </p:txBody>
        </p:sp>
        <p:sp>
          <p:nvSpPr>
            <p:cNvPr id="187" name="Google Shape;187;p18"/>
            <p:cNvSpPr/>
            <p:nvPr/>
          </p:nvSpPr>
          <p:spPr>
            <a:xfrm>
              <a:off x="4532836" y="2323751"/>
              <a:ext cx="2826300" cy="642300"/>
            </a:xfrm>
            <a:prstGeom prst="rect">
              <a:avLst/>
            </a:prstGeom>
            <a:noFill/>
            <a:ln>
              <a:noFill/>
            </a:ln>
          </p:spPr>
          <p:txBody>
            <a:bodyPr anchorCtr="0" anchor="ctr" bIns="170700" lIns="170700" spcFirstLastPara="1" rIns="170700" wrap="square" tIns="170700">
              <a:noAutofit/>
            </a:bodyPr>
            <a:lstStyle/>
            <a:p>
              <a:pPr indent="-317500" lvl="0" marL="457200" rtl="0" algn="l">
                <a:spcBef>
                  <a:spcPts val="1000"/>
                </a:spcBef>
                <a:spcAft>
                  <a:spcPts val="0"/>
                </a:spcAft>
                <a:buClr>
                  <a:schemeClr val="dk1"/>
                </a:buClr>
                <a:buSzPts val="1400"/>
                <a:buFont typeface="Roboto"/>
                <a:buChar char="●"/>
              </a:pPr>
              <a:r>
                <a:rPr lang="es">
                  <a:solidFill>
                    <a:schemeClr val="dk1"/>
                  </a:solidFill>
                  <a:latin typeface="Roboto"/>
                  <a:ea typeface="Roboto"/>
                  <a:cs typeface="Roboto"/>
                  <a:sym typeface="Roboto"/>
                </a:rPr>
                <a:t>Conversión de fechas a formato estándar.</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s">
                  <a:solidFill>
                    <a:schemeClr val="dk1"/>
                  </a:solidFill>
                  <a:latin typeface="Roboto"/>
                  <a:ea typeface="Roboto"/>
                  <a:cs typeface="Roboto"/>
                  <a:sym typeface="Roboto"/>
                </a:rPr>
                <a:t>Eliminación de duplicados y valores nulos NaN.</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s">
                  <a:solidFill>
                    <a:schemeClr val="dk1"/>
                  </a:solidFill>
                  <a:latin typeface="Roboto"/>
                  <a:ea typeface="Roboto"/>
                  <a:cs typeface="Roboto"/>
                  <a:sym typeface="Roboto"/>
                </a:rPr>
                <a:t>Corrección de inconsistencias en nombres de columnas y tipos de datos.</a:t>
              </a:r>
              <a:endParaRPr>
                <a:solidFill>
                  <a:schemeClr val="dk1"/>
                </a:solidFill>
                <a:latin typeface="Roboto"/>
                <a:ea typeface="Roboto"/>
                <a:cs typeface="Roboto"/>
                <a:sym typeface="Roboto"/>
              </a:endParaRPr>
            </a:p>
          </p:txBody>
        </p:sp>
      </p:grpSp>
      <p:sp>
        <p:nvSpPr>
          <p:cNvPr id="188" name="Google Shape;18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92" name="Shape 192"/>
        <p:cNvGrpSpPr/>
        <p:nvPr/>
      </p:nvGrpSpPr>
      <p:grpSpPr>
        <a:xfrm>
          <a:off x="0" y="0"/>
          <a:ext cx="0" cy="0"/>
          <a:chOff x="0" y="0"/>
          <a:chExt cx="0" cy="0"/>
        </a:xfrm>
      </p:grpSpPr>
      <p:grpSp>
        <p:nvGrpSpPr>
          <p:cNvPr id="193" name="Google Shape;193;p19"/>
          <p:cNvGrpSpPr/>
          <p:nvPr/>
        </p:nvGrpSpPr>
        <p:grpSpPr>
          <a:xfrm>
            <a:off x="474606" y="1747675"/>
            <a:ext cx="7635741" cy="2095043"/>
            <a:chOff x="1593000" y="2322568"/>
            <a:chExt cx="5957975" cy="643500"/>
          </a:xfrm>
        </p:grpSpPr>
        <p:sp>
          <p:nvSpPr>
            <p:cNvPr id="194" name="Google Shape;194;p19"/>
            <p:cNvSpPr/>
            <p:nvPr/>
          </p:nvSpPr>
          <p:spPr>
            <a:xfrm>
              <a:off x="3728375" y="2322568"/>
              <a:ext cx="3822600" cy="643500"/>
            </a:xfrm>
            <a:prstGeom prst="rect">
              <a:avLst/>
            </a:prstGeom>
            <a:gradFill>
              <a:gsLst>
                <a:gs pos="0">
                  <a:srgbClr val="FFFFFF"/>
                </a:gs>
                <a:gs pos="100000">
                  <a:srgbClr val="B3B3B3"/>
                </a:gs>
              </a:gsLst>
              <a:lin ang="5400012" scaled="0"/>
            </a:gradFill>
            <a:ln>
              <a:noFill/>
            </a:ln>
          </p:spPr>
          <p:txBody>
            <a:bodyPr anchorCtr="0" anchor="ctr" bIns="170700" lIns="170700" spcFirstLastPara="1" rIns="170700" wrap="square" tIns="170700">
              <a:noAutofit/>
            </a:bodyPr>
            <a:lstStyle/>
            <a:p>
              <a:pPr indent="0" lvl="0" marL="0" rtl="0" algn="l">
                <a:spcBef>
                  <a:spcPts val="0"/>
                </a:spcBef>
                <a:spcAft>
                  <a:spcPts val="0"/>
                </a:spcAft>
                <a:buNone/>
              </a:pPr>
              <a:r>
                <a:t/>
              </a:r>
              <a:endParaRPr/>
            </a:p>
          </p:txBody>
        </p:sp>
        <p:sp>
          <p:nvSpPr>
            <p:cNvPr id="195" name="Google Shape;195;p19"/>
            <p:cNvSpPr/>
            <p:nvPr/>
          </p:nvSpPr>
          <p:spPr>
            <a:xfrm rot="-5400000">
              <a:off x="3070875" y="1503962"/>
              <a:ext cx="643356" cy="2280567"/>
            </a:xfrm>
            <a:prstGeom prst="flowChartOffpageConnector">
              <a:avLst/>
            </a:prstGeom>
            <a:gradFill>
              <a:gsLst>
                <a:gs pos="0">
                  <a:srgbClr val="3176EE"/>
                </a:gs>
                <a:gs pos="100000">
                  <a:srgbClr val="113D8A"/>
                </a:gs>
              </a:gsLst>
              <a:lin ang="5400012" scaled="0"/>
            </a:gradFill>
            <a:ln>
              <a:noFill/>
            </a:ln>
          </p:spPr>
          <p:txBody>
            <a:bodyPr anchorCtr="0" anchor="ctr" bIns="170700" lIns="170700" spcFirstLastPara="1" rIns="170700" wrap="square" tIns="170700">
              <a:noAutofit/>
            </a:bodyPr>
            <a:lstStyle/>
            <a:p>
              <a:pPr indent="0" lvl="0" marL="0" rtl="0" algn="l">
                <a:spcBef>
                  <a:spcPts val="0"/>
                </a:spcBef>
                <a:spcAft>
                  <a:spcPts val="0"/>
                </a:spcAft>
                <a:buNone/>
              </a:pPr>
              <a:r>
                <a:t/>
              </a:r>
              <a:endParaRPr/>
            </a:p>
          </p:txBody>
        </p:sp>
        <p:sp>
          <p:nvSpPr>
            <p:cNvPr id="196" name="Google Shape;196;p19"/>
            <p:cNvSpPr/>
            <p:nvPr/>
          </p:nvSpPr>
          <p:spPr>
            <a:xfrm>
              <a:off x="2342625" y="2399951"/>
              <a:ext cx="1940700" cy="495900"/>
            </a:xfrm>
            <a:prstGeom prst="rect">
              <a:avLst/>
            </a:prstGeom>
            <a:noFill/>
            <a:ln>
              <a:noFill/>
            </a:ln>
          </p:spPr>
          <p:txBody>
            <a:bodyPr anchorCtr="0" anchor="ctr" bIns="170700" lIns="170700" spcFirstLastPara="1" rIns="170700" wrap="square" tIns="170700">
              <a:noAutofit/>
            </a:bodyPr>
            <a:lstStyle/>
            <a:p>
              <a:pPr indent="0" lvl="0" marL="0" rtl="0" algn="ctr">
                <a:spcBef>
                  <a:spcPts val="0"/>
                </a:spcBef>
                <a:spcAft>
                  <a:spcPts val="0"/>
                </a:spcAft>
                <a:buNone/>
              </a:pPr>
              <a:r>
                <a:rPr lang="es" sz="1600">
                  <a:solidFill>
                    <a:schemeClr val="lt1"/>
                  </a:solidFill>
                  <a:latin typeface="Roboto"/>
                  <a:ea typeface="Roboto"/>
                  <a:cs typeface="Roboto"/>
                  <a:sym typeface="Roboto"/>
                </a:rPr>
                <a:t>Análisis de variables</a:t>
              </a:r>
              <a:endParaRPr sz="1600">
                <a:solidFill>
                  <a:schemeClr val="lt1"/>
                </a:solidFill>
                <a:latin typeface="Roboto"/>
                <a:ea typeface="Roboto"/>
                <a:cs typeface="Roboto"/>
                <a:sym typeface="Roboto"/>
              </a:endParaRPr>
            </a:p>
          </p:txBody>
        </p:sp>
        <p:sp>
          <p:nvSpPr>
            <p:cNvPr id="197" name="Google Shape;197;p19"/>
            <p:cNvSpPr/>
            <p:nvPr/>
          </p:nvSpPr>
          <p:spPr>
            <a:xfrm>
              <a:off x="1593000" y="2322568"/>
              <a:ext cx="690000" cy="642300"/>
            </a:xfrm>
            <a:prstGeom prst="rect">
              <a:avLst/>
            </a:prstGeom>
            <a:solidFill>
              <a:srgbClr val="B02B20"/>
            </a:solidFill>
            <a:ln>
              <a:noFill/>
            </a:ln>
            <a:effectLst>
              <a:outerShdw blurRad="133390" rotWithShape="0" algn="bl" dir="2700000" dist="53356">
                <a:srgbClr val="000000">
                  <a:alpha val="17000"/>
                </a:srgbClr>
              </a:outerShdw>
            </a:effectLst>
          </p:spPr>
          <p:txBody>
            <a:bodyPr anchorCtr="0" anchor="ctr" bIns="170700" lIns="170700" spcFirstLastPara="1" rIns="170700" wrap="square" tIns="170700">
              <a:noAutofit/>
            </a:bodyPr>
            <a:lstStyle/>
            <a:p>
              <a:pPr indent="0" lvl="0" marL="0" rtl="0" algn="l">
                <a:spcBef>
                  <a:spcPts val="0"/>
                </a:spcBef>
                <a:spcAft>
                  <a:spcPts val="0"/>
                </a:spcAft>
                <a:buNone/>
              </a:pPr>
              <a:r>
                <a:t/>
              </a:r>
              <a:endParaRPr/>
            </a:p>
          </p:txBody>
        </p:sp>
        <p:sp>
          <p:nvSpPr>
            <p:cNvPr id="198" name="Google Shape;198;p19"/>
            <p:cNvSpPr/>
            <p:nvPr/>
          </p:nvSpPr>
          <p:spPr>
            <a:xfrm>
              <a:off x="1593000" y="2322575"/>
              <a:ext cx="690000" cy="642600"/>
            </a:xfrm>
            <a:prstGeom prst="rect">
              <a:avLst/>
            </a:prstGeom>
            <a:solidFill>
              <a:schemeClr val="accent1"/>
            </a:solidFill>
            <a:ln>
              <a:noFill/>
            </a:ln>
          </p:spPr>
          <p:txBody>
            <a:bodyPr anchorCtr="0" anchor="ctr" bIns="170700" lIns="170700" spcFirstLastPara="1" rIns="170700" wrap="square" tIns="170700">
              <a:noAutofit/>
            </a:bodyPr>
            <a:lstStyle/>
            <a:p>
              <a:pPr indent="0" lvl="0" marL="0" rtl="0" algn="ctr">
                <a:spcBef>
                  <a:spcPts val="0"/>
                </a:spcBef>
                <a:spcAft>
                  <a:spcPts val="0"/>
                </a:spcAft>
                <a:buNone/>
              </a:pPr>
              <a:r>
                <a:rPr b="1" lang="es" sz="1800">
                  <a:solidFill>
                    <a:srgbClr val="FFFFFF"/>
                  </a:solidFill>
                  <a:latin typeface="Roboto"/>
                  <a:ea typeface="Roboto"/>
                  <a:cs typeface="Roboto"/>
                  <a:sym typeface="Roboto"/>
                </a:rPr>
                <a:t>03</a:t>
              </a:r>
              <a:endParaRPr b="1" sz="1800">
                <a:solidFill>
                  <a:srgbClr val="FFFFFF"/>
                </a:solidFill>
                <a:latin typeface="Roboto"/>
                <a:ea typeface="Roboto"/>
                <a:cs typeface="Roboto"/>
                <a:sym typeface="Roboto"/>
              </a:endParaRPr>
            </a:p>
          </p:txBody>
        </p:sp>
        <p:sp>
          <p:nvSpPr>
            <p:cNvPr id="199" name="Google Shape;199;p19"/>
            <p:cNvSpPr/>
            <p:nvPr/>
          </p:nvSpPr>
          <p:spPr>
            <a:xfrm>
              <a:off x="4532837" y="2323751"/>
              <a:ext cx="2826000" cy="642300"/>
            </a:xfrm>
            <a:prstGeom prst="rect">
              <a:avLst/>
            </a:prstGeom>
            <a:noFill/>
            <a:ln>
              <a:noFill/>
            </a:ln>
          </p:spPr>
          <p:txBody>
            <a:bodyPr anchorCtr="0" anchor="ctr" bIns="170700" lIns="170700" spcFirstLastPara="1" rIns="170700" wrap="square" tIns="170700">
              <a:noAutofit/>
            </a:bodyPr>
            <a:lstStyle/>
            <a:p>
              <a:pPr indent="-317500" lvl="0" marL="457200" rtl="0" algn="l">
                <a:spcBef>
                  <a:spcPts val="1000"/>
                </a:spcBef>
                <a:spcAft>
                  <a:spcPts val="0"/>
                </a:spcAft>
                <a:buClr>
                  <a:schemeClr val="dk1"/>
                </a:buClr>
                <a:buSzPts val="1400"/>
                <a:buFont typeface="Roboto"/>
                <a:buChar char="●"/>
              </a:pPr>
              <a:r>
                <a:rPr lang="es">
                  <a:solidFill>
                    <a:schemeClr val="dk1"/>
                  </a:solidFill>
                  <a:latin typeface="Roboto"/>
                  <a:ea typeface="Roboto"/>
                  <a:cs typeface="Roboto"/>
                  <a:sym typeface="Roboto"/>
                </a:rPr>
                <a:t>Fecha de primera solicitud → para asignar cada cliente a un cohort.</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s">
                  <a:solidFill>
                    <a:schemeClr val="dk1"/>
                  </a:solidFill>
                  <a:latin typeface="Roboto"/>
                  <a:ea typeface="Roboto"/>
                  <a:cs typeface="Roboto"/>
                  <a:sym typeface="Roboto"/>
                </a:rPr>
                <a:t>Cálculo de métricas de uso y rendimiento financiero.</a:t>
              </a:r>
              <a:endParaRPr>
                <a:solidFill>
                  <a:schemeClr val="dk1"/>
                </a:solidFill>
                <a:latin typeface="Roboto"/>
                <a:ea typeface="Roboto"/>
                <a:cs typeface="Roboto"/>
                <a:sym typeface="Roboto"/>
              </a:endParaRPr>
            </a:p>
          </p:txBody>
        </p:sp>
      </p:grpSp>
      <p:sp>
        <p:nvSpPr>
          <p:cNvPr id="200" name="Google Shape;20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04" name="Shape 204"/>
        <p:cNvGrpSpPr/>
        <p:nvPr/>
      </p:nvGrpSpPr>
      <p:grpSpPr>
        <a:xfrm>
          <a:off x="0" y="0"/>
          <a:ext cx="0" cy="0"/>
          <a:chOff x="0" y="0"/>
          <a:chExt cx="0" cy="0"/>
        </a:xfrm>
      </p:grpSpPr>
      <p:sp>
        <p:nvSpPr>
          <p:cNvPr id="205" name="Google Shape;205;p20"/>
          <p:cNvSpPr txBox="1"/>
          <p:nvPr>
            <p:ph type="title"/>
          </p:nvPr>
        </p:nvSpPr>
        <p:spPr>
          <a:xfrm>
            <a:off x="1262775" y="740975"/>
            <a:ext cx="7038900" cy="68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latin typeface="Roboto"/>
                <a:ea typeface="Roboto"/>
                <a:cs typeface="Roboto"/>
                <a:sym typeface="Roboto"/>
              </a:rPr>
              <a:t>MÉTRICA 1: FRECUENCIA DE USO </a:t>
            </a:r>
            <a:endParaRPr>
              <a:latin typeface="Roboto"/>
              <a:ea typeface="Roboto"/>
              <a:cs typeface="Roboto"/>
              <a:sym typeface="Roboto"/>
            </a:endParaRPr>
          </a:p>
        </p:txBody>
      </p:sp>
      <p:grpSp>
        <p:nvGrpSpPr>
          <p:cNvPr id="206" name="Google Shape;206;p20"/>
          <p:cNvGrpSpPr/>
          <p:nvPr/>
        </p:nvGrpSpPr>
        <p:grpSpPr>
          <a:xfrm>
            <a:off x="1129300" y="2094900"/>
            <a:ext cx="1944600" cy="1569600"/>
            <a:chOff x="1126863" y="2013875"/>
            <a:chExt cx="1944600" cy="1569600"/>
          </a:xfrm>
        </p:grpSpPr>
        <p:sp>
          <p:nvSpPr>
            <p:cNvPr id="207" name="Google Shape;207;p20"/>
            <p:cNvSpPr/>
            <p:nvPr/>
          </p:nvSpPr>
          <p:spPr>
            <a:xfrm>
              <a:off x="1126863" y="2013875"/>
              <a:ext cx="1944600" cy="1569600"/>
            </a:xfrm>
            <a:prstGeom prst="round2DiagRect">
              <a:avLst>
                <a:gd fmla="val 0" name="adj1"/>
                <a:gd fmla="val 17764"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nvSpPr>
          <p:spPr>
            <a:xfrm>
              <a:off x="1373313" y="2474225"/>
              <a:ext cx="1451700" cy="6489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600">
                  <a:solidFill>
                    <a:srgbClr val="FFFFFF"/>
                  </a:solidFill>
                  <a:latin typeface="Roboto"/>
                  <a:ea typeface="Roboto"/>
                  <a:cs typeface="Roboto"/>
                  <a:sym typeface="Roboto"/>
                </a:rPr>
                <a:t>OBJETIVO DE LA M</a:t>
              </a:r>
              <a:r>
                <a:rPr lang="es" sz="1600">
                  <a:solidFill>
                    <a:srgbClr val="FFFFFF"/>
                  </a:solidFill>
                  <a:latin typeface="Roboto"/>
                  <a:ea typeface="Roboto"/>
                  <a:cs typeface="Roboto"/>
                  <a:sym typeface="Roboto"/>
                </a:rPr>
                <a:t>ÉTRICA</a:t>
              </a:r>
              <a:endParaRPr sz="1600">
                <a:solidFill>
                  <a:srgbClr val="FFFFFF"/>
                </a:solidFill>
                <a:latin typeface="Roboto"/>
                <a:ea typeface="Roboto"/>
                <a:cs typeface="Roboto"/>
                <a:sym typeface="Roboto"/>
              </a:endParaRPr>
            </a:p>
          </p:txBody>
        </p:sp>
      </p:grpSp>
      <p:grpSp>
        <p:nvGrpSpPr>
          <p:cNvPr id="209" name="Google Shape;209;p20"/>
          <p:cNvGrpSpPr/>
          <p:nvPr/>
        </p:nvGrpSpPr>
        <p:grpSpPr>
          <a:xfrm>
            <a:off x="3073825" y="2094900"/>
            <a:ext cx="4940876" cy="1569600"/>
            <a:chOff x="5015938" y="2013875"/>
            <a:chExt cx="3001200" cy="1569600"/>
          </a:xfrm>
        </p:grpSpPr>
        <p:sp>
          <p:nvSpPr>
            <p:cNvPr id="210" name="Google Shape;210;p20"/>
            <p:cNvSpPr/>
            <p:nvPr/>
          </p:nvSpPr>
          <p:spPr>
            <a:xfrm>
              <a:off x="5015938" y="2013875"/>
              <a:ext cx="3001200" cy="1569600"/>
            </a:xfrm>
            <a:prstGeom prst="round2DiagRect">
              <a:avLst>
                <a:gd fmla="val 0" name="adj1"/>
                <a:gd fmla="val 17764" name="adj2"/>
              </a:avLst>
            </a:prstGeom>
            <a:gradFill>
              <a:gsLst>
                <a:gs pos="0">
                  <a:srgbClr val="3176EE"/>
                </a:gs>
                <a:gs pos="100000">
                  <a:srgbClr val="113D8A"/>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11" name="Google Shape;211;p20"/>
            <p:cNvSpPr txBox="1"/>
            <p:nvPr/>
          </p:nvSpPr>
          <p:spPr>
            <a:xfrm>
              <a:off x="5142387" y="2297502"/>
              <a:ext cx="2748300" cy="10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a:p>
              <a:pPr indent="0" lvl="0" marL="0" rtl="0" algn="l">
                <a:lnSpc>
                  <a:spcPct val="95000"/>
                </a:lnSpc>
                <a:spcBef>
                  <a:spcPts val="0"/>
                </a:spcBef>
                <a:spcAft>
                  <a:spcPts val="1200"/>
                </a:spcAft>
                <a:buClr>
                  <a:srgbClr val="000000"/>
                </a:buClr>
                <a:buSzPts val="523"/>
                <a:buFont typeface="Arial"/>
                <a:buNone/>
              </a:pPr>
              <a:r>
                <a:rPr lang="es">
                  <a:solidFill>
                    <a:schemeClr val="lt1"/>
                  </a:solidFill>
                  <a:latin typeface="Roboto"/>
                  <a:ea typeface="Roboto"/>
                  <a:cs typeface="Roboto"/>
                  <a:sym typeface="Roboto"/>
                </a:rPr>
                <a:t>Agrupados por cohortes mensuales, hemos evaluado con qué frecuencia los usuarios realizan solicitudes o transacciones.</a:t>
              </a:r>
              <a:endParaRPr>
                <a:solidFill>
                  <a:srgbClr val="FFFFFF"/>
                </a:solidFill>
                <a:latin typeface="Roboto"/>
                <a:ea typeface="Roboto"/>
                <a:cs typeface="Roboto"/>
                <a:sym typeface="Roboto"/>
              </a:endParaRPr>
            </a:p>
          </p:txBody>
        </p:sp>
      </p:grpSp>
      <p:grpSp>
        <p:nvGrpSpPr>
          <p:cNvPr id="212" name="Google Shape;212;p20"/>
          <p:cNvGrpSpPr/>
          <p:nvPr/>
        </p:nvGrpSpPr>
        <p:grpSpPr>
          <a:xfrm>
            <a:off x="2927059" y="2749507"/>
            <a:ext cx="261571" cy="260379"/>
            <a:chOff x="4858109" y="2631368"/>
            <a:chExt cx="316442" cy="315000"/>
          </a:xfrm>
        </p:grpSpPr>
        <p:sp>
          <p:nvSpPr>
            <p:cNvPr id="213" name="Google Shape;213;p20"/>
            <p:cNvSpPr/>
            <p:nvPr/>
          </p:nvSpPr>
          <p:spPr>
            <a:xfrm>
              <a:off x="4859551" y="2631368"/>
              <a:ext cx="315000" cy="3150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0"/>
            <p:cNvSpPr/>
            <p:nvPr/>
          </p:nvSpPr>
          <p:spPr>
            <a:xfrm>
              <a:off x="4858109" y="2739300"/>
              <a:ext cx="239100" cy="99000"/>
            </a:xfrm>
            <a:prstGeom prst="rightArrow">
              <a:avLst>
                <a:gd fmla="val 32020" name="adj1"/>
                <a:gd fmla="val 66970" name="adj2"/>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s"/>
              </a:br>
              <a:endParaRPr/>
            </a:p>
          </p:txBody>
        </p:sp>
      </p:grpSp>
      <p:sp>
        <p:nvSpPr>
          <p:cNvPr id="215" name="Google Shape;21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19" name="Shape 219"/>
        <p:cNvGrpSpPr/>
        <p:nvPr/>
      </p:nvGrpSpPr>
      <p:grpSpPr>
        <a:xfrm>
          <a:off x="0" y="0"/>
          <a:ext cx="0" cy="0"/>
          <a:chOff x="0" y="0"/>
          <a:chExt cx="0" cy="0"/>
        </a:xfrm>
      </p:grpSpPr>
      <p:sp>
        <p:nvSpPr>
          <p:cNvPr id="220" name="Google Shape;220;p21"/>
          <p:cNvSpPr/>
          <p:nvPr/>
        </p:nvSpPr>
        <p:spPr>
          <a:xfrm rot="5400000">
            <a:off x="4553927" y="402800"/>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1"/>
          <p:cNvSpPr/>
          <p:nvPr/>
        </p:nvSpPr>
        <p:spPr>
          <a:xfrm rot="5400000">
            <a:off x="4553927" y="-377425"/>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1"/>
          <p:cNvSpPr/>
          <p:nvPr/>
        </p:nvSpPr>
        <p:spPr>
          <a:xfrm rot="5400000">
            <a:off x="4553927" y="-1157650"/>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1"/>
          <p:cNvSpPr/>
          <p:nvPr/>
        </p:nvSpPr>
        <p:spPr>
          <a:xfrm rot="5400000">
            <a:off x="4553927" y="-1937875"/>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1"/>
          <p:cNvSpPr/>
          <p:nvPr/>
        </p:nvSpPr>
        <p:spPr>
          <a:xfrm>
            <a:off x="1227685" y="1559626"/>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1</a:t>
            </a:r>
            <a:endParaRPr b="1" sz="1200">
              <a:solidFill>
                <a:srgbClr val="0C57D3"/>
              </a:solidFill>
              <a:latin typeface="Roboto"/>
              <a:ea typeface="Roboto"/>
              <a:cs typeface="Roboto"/>
              <a:sym typeface="Roboto"/>
            </a:endParaRPr>
          </a:p>
        </p:txBody>
      </p:sp>
      <p:sp>
        <p:nvSpPr>
          <p:cNvPr id="225" name="Google Shape;225;p21"/>
          <p:cNvSpPr txBox="1"/>
          <p:nvPr/>
        </p:nvSpPr>
        <p:spPr>
          <a:xfrm>
            <a:off x="1601775" y="1540775"/>
            <a:ext cx="6685500" cy="440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1317">
                <a:solidFill>
                  <a:schemeClr val="lt1"/>
                </a:solidFill>
                <a:latin typeface="Lato"/>
                <a:ea typeface="Lato"/>
                <a:cs typeface="Lato"/>
                <a:sym typeface="Lato"/>
              </a:rPr>
              <a:t>Obtener las fechas además de el número de transacciones.</a:t>
            </a:r>
            <a:endParaRPr sz="1300">
              <a:solidFill>
                <a:schemeClr val="lt1"/>
              </a:solidFill>
              <a:latin typeface="Roboto"/>
              <a:ea typeface="Roboto"/>
              <a:cs typeface="Roboto"/>
              <a:sym typeface="Roboto"/>
            </a:endParaRPr>
          </a:p>
        </p:txBody>
      </p:sp>
      <p:sp>
        <p:nvSpPr>
          <p:cNvPr id="226" name="Google Shape;226;p21"/>
          <p:cNvSpPr/>
          <p:nvPr/>
        </p:nvSpPr>
        <p:spPr>
          <a:xfrm>
            <a:off x="1262060" y="2339901"/>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2</a:t>
            </a:r>
            <a:endParaRPr b="1" sz="1200">
              <a:solidFill>
                <a:srgbClr val="0C57D3"/>
              </a:solidFill>
              <a:latin typeface="Roboto"/>
              <a:ea typeface="Roboto"/>
              <a:cs typeface="Roboto"/>
              <a:sym typeface="Roboto"/>
            </a:endParaRPr>
          </a:p>
        </p:txBody>
      </p:sp>
      <p:sp>
        <p:nvSpPr>
          <p:cNvPr id="227" name="Google Shape;227;p21"/>
          <p:cNvSpPr txBox="1"/>
          <p:nvPr/>
        </p:nvSpPr>
        <p:spPr>
          <a:xfrm>
            <a:off x="1706032" y="2330300"/>
            <a:ext cx="6558300" cy="393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1317">
                <a:solidFill>
                  <a:schemeClr val="lt1"/>
                </a:solidFill>
                <a:latin typeface="Lato"/>
                <a:ea typeface="Lato"/>
                <a:cs typeface="Lato"/>
                <a:sym typeface="Lato"/>
              </a:rPr>
              <a:t>Posteriormente obtendremos el número de usuarios por mes.</a:t>
            </a:r>
            <a:endParaRPr>
              <a:solidFill>
                <a:schemeClr val="lt1"/>
              </a:solidFill>
              <a:latin typeface="Roboto"/>
              <a:ea typeface="Roboto"/>
              <a:cs typeface="Roboto"/>
              <a:sym typeface="Roboto"/>
            </a:endParaRPr>
          </a:p>
        </p:txBody>
      </p:sp>
      <p:sp>
        <p:nvSpPr>
          <p:cNvPr id="228" name="Google Shape;228;p21"/>
          <p:cNvSpPr/>
          <p:nvPr/>
        </p:nvSpPr>
        <p:spPr>
          <a:xfrm>
            <a:off x="1262060" y="3124926"/>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3</a:t>
            </a:r>
            <a:endParaRPr b="1" sz="1200">
              <a:solidFill>
                <a:srgbClr val="0C57D3"/>
              </a:solidFill>
              <a:latin typeface="Roboto"/>
              <a:ea typeface="Roboto"/>
              <a:cs typeface="Roboto"/>
              <a:sym typeface="Roboto"/>
            </a:endParaRPr>
          </a:p>
        </p:txBody>
      </p:sp>
      <p:sp>
        <p:nvSpPr>
          <p:cNvPr id="229" name="Google Shape;229;p21"/>
          <p:cNvSpPr txBox="1"/>
          <p:nvPr/>
        </p:nvSpPr>
        <p:spPr>
          <a:xfrm>
            <a:off x="1706025" y="3115325"/>
            <a:ext cx="6813300" cy="393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1317">
                <a:solidFill>
                  <a:schemeClr val="lt1"/>
                </a:solidFill>
                <a:latin typeface="Lato"/>
                <a:ea typeface="Lato"/>
                <a:cs typeface="Lato"/>
                <a:sym typeface="Lato"/>
              </a:rPr>
              <a:t>Crearemos una nueva tabla con el número de </a:t>
            </a:r>
            <a:r>
              <a:rPr lang="es" sz="1317">
                <a:solidFill>
                  <a:schemeClr val="lt1"/>
                </a:solidFill>
                <a:latin typeface="Lato"/>
                <a:ea typeface="Lato"/>
                <a:cs typeface="Lato"/>
                <a:sym typeface="Lato"/>
              </a:rPr>
              <a:t>transacciones y número total de usuarios.</a:t>
            </a:r>
            <a:r>
              <a:rPr lang="es" sz="1317">
                <a:solidFill>
                  <a:schemeClr val="lt1"/>
                </a:solidFill>
                <a:latin typeface="Lato"/>
                <a:ea typeface="Lato"/>
                <a:cs typeface="Lato"/>
                <a:sym typeface="Lato"/>
              </a:rPr>
              <a:t> </a:t>
            </a:r>
            <a:endParaRPr sz="1200">
              <a:solidFill>
                <a:srgbClr val="FFFFFF"/>
              </a:solidFill>
              <a:latin typeface="Roboto"/>
              <a:ea typeface="Roboto"/>
              <a:cs typeface="Roboto"/>
              <a:sym typeface="Roboto"/>
            </a:endParaRPr>
          </a:p>
        </p:txBody>
      </p:sp>
      <p:sp>
        <p:nvSpPr>
          <p:cNvPr id="230" name="Google Shape;230;p21"/>
          <p:cNvSpPr/>
          <p:nvPr/>
        </p:nvSpPr>
        <p:spPr>
          <a:xfrm>
            <a:off x="1262060" y="3909951"/>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4</a:t>
            </a:r>
            <a:endParaRPr b="1" sz="1200">
              <a:solidFill>
                <a:srgbClr val="0C57D3"/>
              </a:solidFill>
              <a:latin typeface="Roboto"/>
              <a:ea typeface="Roboto"/>
              <a:cs typeface="Roboto"/>
              <a:sym typeface="Roboto"/>
            </a:endParaRPr>
          </a:p>
        </p:txBody>
      </p:sp>
      <p:sp>
        <p:nvSpPr>
          <p:cNvPr id="231" name="Google Shape;231;p21"/>
          <p:cNvSpPr txBox="1"/>
          <p:nvPr/>
        </p:nvSpPr>
        <p:spPr>
          <a:xfrm>
            <a:off x="1706024" y="3900350"/>
            <a:ext cx="6648000" cy="39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317">
                <a:solidFill>
                  <a:schemeClr val="lt1"/>
                </a:solidFill>
                <a:latin typeface="Lato"/>
                <a:ea typeface="Lato"/>
                <a:cs typeface="Lato"/>
                <a:sym typeface="Lato"/>
              </a:rPr>
              <a:t>Calculamos el número medio de operaciones por usuario en cada cohorte.</a:t>
            </a:r>
            <a:endParaRPr sz="1317">
              <a:solidFill>
                <a:schemeClr val="lt1"/>
              </a:solidFill>
              <a:latin typeface="Lato"/>
              <a:ea typeface="Lato"/>
              <a:cs typeface="Lato"/>
              <a:sym typeface="Lato"/>
            </a:endParaRPr>
          </a:p>
        </p:txBody>
      </p:sp>
      <p:sp>
        <p:nvSpPr>
          <p:cNvPr id="232" name="Google Shape;232;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33" name="Google Shape;233;p21"/>
          <p:cNvSpPr txBox="1"/>
          <p:nvPr>
            <p:ph type="title"/>
          </p:nvPr>
        </p:nvSpPr>
        <p:spPr>
          <a:xfrm>
            <a:off x="1315275" y="582350"/>
            <a:ext cx="7038900" cy="56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latin typeface="Roboto"/>
                <a:ea typeface="Roboto"/>
                <a:cs typeface="Roboto"/>
                <a:sym typeface="Roboto"/>
              </a:rPr>
              <a:t>PROCESO</a:t>
            </a:r>
            <a:r>
              <a:rPr lang="es" sz="1800">
                <a:latin typeface="Roboto"/>
                <a:ea typeface="Roboto"/>
                <a:cs typeface="Roboto"/>
                <a:sym typeface="Roboto"/>
              </a:rPr>
              <a:t>:</a:t>
            </a:r>
            <a:endParaRPr sz="1800">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37" name="Shape 237"/>
        <p:cNvGrpSpPr/>
        <p:nvPr/>
      </p:nvGrpSpPr>
      <p:grpSpPr>
        <a:xfrm>
          <a:off x="0" y="0"/>
          <a:ext cx="0" cy="0"/>
          <a:chOff x="0" y="0"/>
          <a:chExt cx="0" cy="0"/>
        </a:xfrm>
      </p:grpSpPr>
      <p:sp>
        <p:nvSpPr>
          <p:cNvPr id="238" name="Google Shape;238;p22"/>
          <p:cNvSpPr txBox="1"/>
          <p:nvPr>
            <p:ph idx="1" type="body"/>
          </p:nvPr>
        </p:nvSpPr>
        <p:spPr>
          <a:xfrm>
            <a:off x="6096800" y="767675"/>
            <a:ext cx="2645400" cy="4028100"/>
          </a:xfrm>
          <a:prstGeom prst="rect">
            <a:avLst/>
          </a:prstGeom>
        </p:spPr>
        <p:txBody>
          <a:bodyPr anchorCtr="0" anchor="t" bIns="91425" lIns="91425" spcFirstLastPara="1" rIns="91425" wrap="square" tIns="91425">
            <a:noAutofit/>
          </a:bodyPr>
          <a:lstStyle/>
          <a:p>
            <a:pPr indent="0" lvl="0" marL="457200" rtl="0" algn="l">
              <a:lnSpc>
                <a:spcPct val="95000"/>
              </a:lnSpc>
              <a:spcBef>
                <a:spcPts val="0"/>
              </a:spcBef>
              <a:spcAft>
                <a:spcPts val="0"/>
              </a:spcAft>
              <a:buSzPts val="852"/>
              <a:buNone/>
            </a:pPr>
            <a:r>
              <a:rPr lang="es" sz="1207">
                <a:latin typeface="Roboto"/>
                <a:ea typeface="Roboto"/>
                <a:cs typeface="Roboto"/>
                <a:sym typeface="Roboto"/>
              </a:rPr>
              <a:t>Conclusiones:</a:t>
            </a:r>
            <a:endParaRPr sz="1207">
              <a:latin typeface="Roboto"/>
              <a:ea typeface="Roboto"/>
              <a:cs typeface="Roboto"/>
              <a:sym typeface="Roboto"/>
            </a:endParaRPr>
          </a:p>
          <a:p>
            <a:pPr indent="-305276" lvl="0" marL="457200" rtl="0" algn="l">
              <a:lnSpc>
                <a:spcPct val="95000"/>
              </a:lnSpc>
              <a:spcBef>
                <a:spcPts val="1200"/>
              </a:spcBef>
              <a:spcAft>
                <a:spcPts val="0"/>
              </a:spcAft>
              <a:buSzPts val="1208"/>
              <a:buFont typeface="Roboto"/>
              <a:buChar char="-"/>
            </a:pPr>
            <a:r>
              <a:rPr lang="es" sz="1207">
                <a:latin typeface="Roboto"/>
                <a:ea typeface="Roboto"/>
                <a:cs typeface="Roboto"/>
                <a:sym typeface="Roboto"/>
              </a:rPr>
              <a:t>La frecuencia de uso aumenta progresivamente hasta mediados de 2020, alcanzando su punto máximo en julio.</a:t>
            </a:r>
            <a:endParaRPr sz="1207">
              <a:latin typeface="Roboto"/>
              <a:ea typeface="Roboto"/>
              <a:cs typeface="Roboto"/>
              <a:sym typeface="Roboto"/>
            </a:endParaRPr>
          </a:p>
          <a:p>
            <a:pPr indent="-305276" lvl="0" marL="457200" marR="0" rtl="0" algn="l">
              <a:lnSpc>
                <a:spcPct val="95000"/>
              </a:lnSpc>
              <a:spcBef>
                <a:spcPts val="0"/>
              </a:spcBef>
              <a:spcAft>
                <a:spcPts val="0"/>
              </a:spcAft>
              <a:buSzPts val="1208"/>
              <a:buFont typeface="Roboto"/>
              <a:buChar char="-"/>
            </a:pPr>
            <a:r>
              <a:rPr lang="es" sz="1207">
                <a:latin typeface="Roboto"/>
                <a:ea typeface="Roboto"/>
                <a:cs typeface="Roboto"/>
                <a:sym typeface="Roboto"/>
              </a:rPr>
              <a:t>A partir del tercer trimestre de 2020, observamos  una ligera caída en la actividad promedio, posiblemente relacionada con la madurez del producto o menor captación de nuevos usuarios.</a:t>
            </a:r>
            <a:endParaRPr sz="1207">
              <a:latin typeface="Roboto"/>
              <a:ea typeface="Roboto"/>
              <a:cs typeface="Roboto"/>
              <a:sym typeface="Roboto"/>
            </a:endParaRPr>
          </a:p>
          <a:p>
            <a:pPr indent="-305276" lvl="0" marL="457200" marR="0" rtl="0" algn="l">
              <a:lnSpc>
                <a:spcPct val="95000"/>
              </a:lnSpc>
              <a:spcBef>
                <a:spcPts val="0"/>
              </a:spcBef>
              <a:spcAft>
                <a:spcPts val="0"/>
              </a:spcAft>
              <a:buSzPts val="1208"/>
              <a:buFont typeface="Roboto"/>
              <a:buChar char="-"/>
            </a:pPr>
            <a:r>
              <a:rPr lang="es" sz="1207">
                <a:latin typeface="Roboto"/>
                <a:ea typeface="Roboto"/>
                <a:cs typeface="Roboto"/>
                <a:sym typeface="Roboto"/>
              </a:rPr>
              <a:t>Esta métrica nos ayuda a entender el nivel de compromiso y recurrencia de los usuarios dentro de la plataforma.</a:t>
            </a:r>
            <a:endParaRPr sz="1007"/>
          </a:p>
        </p:txBody>
      </p:sp>
      <p:pic>
        <p:nvPicPr>
          <p:cNvPr id="239" name="Google Shape;239;p22"/>
          <p:cNvPicPr preferRelativeResize="0"/>
          <p:nvPr/>
        </p:nvPicPr>
        <p:blipFill>
          <a:blip r:embed="rId3">
            <a:alphaModFix/>
          </a:blip>
          <a:stretch>
            <a:fillRect/>
          </a:stretch>
        </p:blipFill>
        <p:spPr>
          <a:xfrm>
            <a:off x="1357650" y="879675"/>
            <a:ext cx="4739149" cy="3804100"/>
          </a:xfrm>
          <a:prstGeom prst="rect">
            <a:avLst/>
          </a:prstGeom>
          <a:noFill/>
          <a:ln>
            <a:noFill/>
          </a:ln>
        </p:spPr>
      </p:pic>
      <p:sp>
        <p:nvSpPr>
          <p:cNvPr id="240" name="Google Shape;24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44" name="Shape 244"/>
        <p:cNvGrpSpPr/>
        <p:nvPr/>
      </p:nvGrpSpPr>
      <p:grpSpPr>
        <a:xfrm>
          <a:off x="0" y="0"/>
          <a:ext cx="0" cy="0"/>
          <a:chOff x="0" y="0"/>
          <a:chExt cx="0" cy="0"/>
        </a:xfrm>
      </p:grpSpPr>
      <p:sp>
        <p:nvSpPr>
          <p:cNvPr id="245" name="Google Shape;245;p23"/>
          <p:cNvSpPr txBox="1"/>
          <p:nvPr>
            <p:ph type="title"/>
          </p:nvPr>
        </p:nvSpPr>
        <p:spPr>
          <a:xfrm>
            <a:off x="1251200" y="683100"/>
            <a:ext cx="7038900" cy="68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2200">
                <a:latin typeface="Roboto"/>
                <a:ea typeface="Roboto"/>
                <a:cs typeface="Roboto"/>
                <a:sym typeface="Roboto"/>
              </a:rPr>
              <a:t>MÉTRICA 2: PROMEDIO DE INCIDENCIAS</a:t>
            </a:r>
            <a:endParaRPr sz="2200">
              <a:latin typeface="Roboto"/>
              <a:ea typeface="Roboto"/>
              <a:cs typeface="Roboto"/>
              <a:sym typeface="Roboto"/>
            </a:endParaRPr>
          </a:p>
        </p:txBody>
      </p:sp>
      <p:grpSp>
        <p:nvGrpSpPr>
          <p:cNvPr id="246" name="Google Shape;246;p23"/>
          <p:cNvGrpSpPr/>
          <p:nvPr/>
        </p:nvGrpSpPr>
        <p:grpSpPr>
          <a:xfrm>
            <a:off x="1129300" y="2094900"/>
            <a:ext cx="1944600" cy="1569600"/>
            <a:chOff x="1126863" y="2013875"/>
            <a:chExt cx="1944600" cy="1569600"/>
          </a:xfrm>
        </p:grpSpPr>
        <p:sp>
          <p:nvSpPr>
            <p:cNvPr id="247" name="Google Shape;247;p23"/>
            <p:cNvSpPr/>
            <p:nvPr/>
          </p:nvSpPr>
          <p:spPr>
            <a:xfrm>
              <a:off x="1126863" y="2013875"/>
              <a:ext cx="1944600" cy="1569600"/>
            </a:xfrm>
            <a:prstGeom prst="round2DiagRect">
              <a:avLst>
                <a:gd fmla="val 0" name="adj1"/>
                <a:gd fmla="val 17764"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3"/>
            <p:cNvSpPr txBox="1"/>
            <p:nvPr/>
          </p:nvSpPr>
          <p:spPr>
            <a:xfrm>
              <a:off x="1373313" y="2474225"/>
              <a:ext cx="1451700" cy="6489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600">
                  <a:solidFill>
                    <a:srgbClr val="FFFFFF"/>
                  </a:solidFill>
                  <a:latin typeface="Roboto"/>
                  <a:ea typeface="Roboto"/>
                  <a:cs typeface="Roboto"/>
                  <a:sym typeface="Roboto"/>
                </a:rPr>
                <a:t>OBJETIVO DE LA MÉTRICA</a:t>
              </a:r>
              <a:endParaRPr sz="1600">
                <a:solidFill>
                  <a:srgbClr val="FFFFFF"/>
                </a:solidFill>
                <a:latin typeface="Roboto"/>
                <a:ea typeface="Roboto"/>
                <a:cs typeface="Roboto"/>
                <a:sym typeface="Roboto"/>
              </a:endParaRPr>
            </a:p>
          </p:txBody>
        </p:sp>
      </p:grpSp>
      <p:grpSp>
        <p:nvGrpSpPr>
          <p:cNvPr id="249" name="Google Shape;249;p23"/>
          <p:cNvGrpSpPr/>
          <p:nvPr/>
        </p:nvGrpSpPr>
        <p:grpSpPr>
          <a:xfrm>
            <a:off x="3073825" y="2094900"/>
            <a:ext cx="4940876" cy="1569600"/>
            <a:chOff x="5015938" y="2013875"/>
            <a:chExt cx="3001200" cy="1569600"/>
          </a:xfrm>
        </p:grpSpPr>
        <p:sp>
          <p:nvSpPr>
            <p:cNvPr id="250" name="Google Shape;250;p23"/>
            <p:cNvSpPr/>
            <p:nvPr/>
          </p:nvSpPr>
          <p:spPr>
            <a:xfrm>
              <a:off x="5015938" y="2013875"/>
              <a:ext cx="3001200" cy="1569600"/>
            </a:xfrm>
            <a:prstGeom prst="round2DiagRect">
              <a:avLst>
                <a:gd fmla="val 0" name="adj1"/>
                <a:gd fmla="val 17764" name="adj2"/>
              </a:avLst>
            </a:prstGeom>
            <a:gradFill>
              <a:gsLst>
                <a:gs pos="0">
                  <a:srgbClr val="3176EE"/>
                </a:gs>
                <a:gs pos="100000">
                  <a:srgbClr val="113D8A"/>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1" name="Google Shape;251;p23"/>
            <p:cNvSpPr txBox="1"/>
            <p:nvPr/>
          </p:nvSpPr>
          <p:spPr>
            <a:xfrm>
              <a:off x="5142387" y="2297500"/>
              <a:ext cx="2748300" cy="10617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1200"/>
                </a:spcAft>
                <a:buNone/>
              </a:pPr>
              <a:r>
                <a:rPr lang="es">
                  <a:solidFill>
                    <a:srgbClr val="FFFFFF"/>
                  </a:solidFill>
                  <a:latin typeface="Roboto"/>
                  <a:ea typeface="Roboto"/>
                  <a:cs typeface="Roboto"/>
                  <a:sym typeface="Roboto"/>
                </a:rPr>
                <a:t>Determinar la tasa de incidencias, enfocándote explícitamente en incidentes de pago para cada cohorte. Identificar si existen variaciones entre las diferentes cohortes.</a:t>
              </a:r>
              <a:endParaRPr>
                <a:solidFill>
                  <a:srgbClr val="FFFFFF"/>
                </a:solidFill>
                <a:latin typeface="Roboto"/>
                <a:ea typeface="Roboto"/>
                <a:cs typeface="Roboto"/>
                <a:sym typeface="Roboto"/>
              </a:endParaRPr>
            </a:p>
          </p:txBody>
        </p:sp>
      </p:grpSp>
      <p:grpSp>
        <p:nvGrpSpPr>
          <p:cNvPr id="252" name="Google Shape;252;p23"/>
          <p:cNvGrpSpPr/>
          <p:nvPr/>
        </p:nvGrpSpPr>
        <p:grpSpPr>
          <a:xfrm>
            <a:off x="2927059" y="2749507"/>
            <a:ext cx="261571" cy="260379"/>
            <a:chOff x="4858109" y="2631368"/>
            <a:chExt cx="316442" cy="315000"/>
          </a:xfrm>
        </p:grpSpPr>
        <p:sp>
          <p:nvSpPr>
            <p:cNvPr id="253" name="Google Shape;253;p23"/>
            <p:cNvSpPr/>
            <p:nvPr/>
          </p:nvSpPr>
          <p:spPr>
            <a:xfrm>
              <a:off x="4859551" y="2631368"/>
              <a:ext cx="315000" cy="3150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3"/>
            <p:cNvSpPr/>
            <p:nvPr/>
          </p:nvSpPr>
          <p:spPr>
            <a:xfrm>
              <a:off x="4858109" y="2739300"/>
              <a:ext cx="239100" cy="99000"/>
            </a:xfrm>
            <a:prstGeom prst="rightArrow">
              <a:avLst>
                <a:gd fmla="val 32020" name="adj1"/>
                <a:gd fmla="val 66970" name="adj2"/>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s"/>
              </a:br>
              <a:endParaRPr/>
            </a:p>
          </p:txBody>
        </p:sp>
      </p:grpSp>
      <p:sp>
        <p:nvSpPr>
          <p:cNvPr id="255" name="Google Shape;25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59" name="Shape 259"/>
        <p:cNvGrpSpPr/>
        <p:nvPr/>
      </p:nvGrpSpPr>
      <p:grpSpPr>
        <a:xfrm>
          <a:off x="0" y="0"/>
          <a:ext cx="0" cy="0"/>
          <a:chOff x="0" y="0"/>
          <a:chExt cx="0" cy="0"/>
        </a:xfrm>
      </p:grpSpPr>
      <p:sp>
        <p:nvSpPr>
          <p:cNvPr id="260" name="Google Shape;260;p24"/>
          <p:cNvSpPr/>
          <p:nvPr/>
        </p:nvSpPr>
        <p:spPr>
          <a:xfrm rot="5400000">
            <a:off x="4553927" y="402800"/>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4"/>
          <p:cNvSpPr/>
          <p:nvPr/>
        </p:nvSpPr>
        <p:spPr>
          <a:xfrm rot="5400000">
            <a:off x="4553927" y="-377425"/>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4"/>
          <p:cNvSpPr/>
          <p:nvPr/>
        </p:nvSpPr>
        <p:spPr>
          <a:xfrm rot="5400000">
            <a:off x="4553927" y="-1157650"/>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4"/>
          <p:cNvSpPr/>
          <p:nvPr/>
        </p:nvSpPr>
        <p:spPr>
          <a:xfrm rot="5400000">
            <a:off x="4553927" y="-1937875"/>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4"/>
          <p:cNvSpPr/>
          <p:nvPr/>
        </p:nvSpPr>
        <p:spPr>
          <a:xfrm>
            <a:off x="1227685" y="1559626"/>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1</a:t>
            </a:r>
            <a:endParaRPr b="1" sz="1200">
              <a:solidFill>
                <a:srgbClr val="0C57D3"/>
              </a:solidFill>
              <a:latin typeface="Roboto"/>
              <a:ea typeface="Roboto"/>
              <a:cs typeface="Roboto"/>
              <a:sym typeface="Roboto"/>
            </a:endParaRPr>
          </a:p>
        </p:txBody>
      </p:sp>
      <p:sp>
        <p:nvSpPr>
          <p:cNvPr id="265" name="Google Shape;265;p24"/>
          <p:cNvSpPr txBox="1"/>
          <p:nvPr/>
        </p:nvSpPr>
        <p:spPr>
          <a:xfrm>
            <a:off x="1601775" y="1540775"/>
            <a:ext cx="6685500" cy="440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1317">
                <a:solidFill>
                  <a:schemeClr val="lt1"/>
                </a:solidFill>
                <a:latin typeface="Lato"/>
                <a:ea typeface="Lato"/>
                <a:cs typeface="Lato"/>
                <a:sym typeface="Lato"/>
              </a:rPr>
              <a:t>Creamos una tabla con los usuario que presentan incidencias y calculamos los totales por cohorte. </a:t>
            </a:r>
            <a:endParaRPr sz="1300">
              <a:solidFill>
                <a:schemeClr val="lt1"/>
              </a:solidFill>
              <a:latin typeface="Roboto"/>
              <a:ea typeface="Roboto"/>
              <a:cs typeface="Roboto"/>
              <a:sym typeface="Roboto"/>
            </a:endParaRPr>
          </a:p>
        </p:txBody>
      </p:sp>
      <p:sp>
        <p:nvSpPr>
          <p:cNvPr id="266" name="Google Shape;266;p24"/>
          <p:cNvSpPr/>
          <p:nvPr/>
        </p:nvSpPr>
        <p:spPr>
          <a:xfrm>
            <a:off x="1262060" y="2339901"/>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2</a:t>
            </a:r>
            <a:endParaRPr b="1" sz="1200">
              <a:solidFill>
                <a:srgbClr val="0C57D3"/>
              </a:solidFill>
              <a:latin typeface="Roboto"/>
              <a:ea typeface="Roboto"/>
              <a:cs typeface="Roboto"/>
              <a:sym typeface="Roboto"/>
            </a:endParaRPr>
          </a:p>
        </p:txBody>
      </p:sp>
      <p:sp>
        <p:nvSpPr>
          <p:cNvPr id="267" name="Google Shape;267;p24"/>
          <p:cNvSpPr txBox="1"/>
          <p:nvPr/>
        </p:nvSpPr>
        <p:spPr>
          <a:xfrm>
            <a:off x="1706032" y="2330300"/>
            <a:ext cx="6558300" cy="39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317">
                <a:solidFill>
                  <a:schemeClr val="lt1"/>
                </a:solidFill>
                <a:latin typeface="Lato"/>
                <a:ea typeface="Lato"/>
                <a:cs typeface="Lato"/>
                <a:sym typeface="Lato"/>
              </a:rPr>
              <a:t>Calculamos el total de transacciones por cohortes.</a:t>
            </a:r>
            <a:endParaRPr>
              <a:solidFill>
                <a:schemeClr val="lt1"/>
              </a:solidFill>
              <a:latin typeface="Roboto"/>
              <a:ea typeface="Roboto"/>
              <a:cs typeface="Roboto"/>
              <a:sym typeface="Roboto"/>
            </a:endParaRPr>
          </a:p>
        </p:txBody>
      </p:sp>
      <p:sp>
        <p:nvSpPr>
          <p:cNvPr id="268" name="Google Shape;268;p24"/>
          <p:cNvSpPr/>
          <p:nvPr/>
        </p:nvSpPr>
        <p:spPr>
          <a:xfrm>
            <a:off x="1262060" y="3124926"/>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3</a:t>
            </a:r>
            <a:endParaRPr b="1" sz="1200">
              <a:solidFill>
                <a:srgbClr val="0C57D3"/>
              </a:solidFill>
              <a:latin typeface="Roboto"/>
              <a:ea typeface="Roboto"/>
              <a:cs typeface="Roboto"/>
              <a:sym typeface="Roboto"/>
            </a:endParaRPr>
          </a:p>
        </p:txBody>
      </p:sp>
      <p:sp>
        <p:nvSpPr>
          <p:cNvPr id="269" name="Google Shape;269;p24"/>
          <p:cNvSpPr txBox="1"/>
          <p:nvPr/>
        </p:nvSpPr>
        <p:spPr>
          <a:xfrm>
            <a:off x="1706025" y="3115325"/>
            <a:ext cx="6813300" cy="39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317">
                <a:solidFill>
                  <a:schemeClr val="lt1"/>
                </a:solidFill>
                <a:latin typeface="Lato"/>
                <a:ea typeface="Lato"/>
                <a:cs typeface="Lato"/>
                <a:sym typeface="Lato"/>
              </a:rPr>
              <a:t>Combinamos las tablas (merge)</a:t>
            </a:r>
            <a:endParaRPr sz="1200">
              <a:solidFill>
                <a:srgbClr val="FFFFFF"/>
              </a:solidFill>
              <a:latin typeface="Roboto"/>
              <a:ea typeface="Roboto"/>
              <a:cs typeface="Roboto"/>
              <a:sym typeface="Roboto"/>
            </a:endParaRPr>
          </a:p>
        </p:txBody>
      </p:sp>
      <p:sp>
        <p:nvSpPr>
          <p:cNvPr id="270" name="Google Shape;270;p24"/>
          <p:cNvSpPr/>
          <p:nvPr/>
        </p:nvSpPr>
        <p:spPr>
          <a:xfrm>
            <a:off x="1262060" y="3909951"/>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4</a:t>
            </a:r>
            <a:endParaRPr b="1" sz="1200">
              <a:solidFill>
                <a:srgbClr val="0C57D3"/>
              </a:solidFill>
              <a:latin typeface="Roboto"/>
              <a:ea typeface="Roboto"/>
              <a:cs typeface="Roboto"/>
              <a:sym typeface="Roboto"/>
            </a:endParaRPr>
          </a:p>
        </p:txBody>
      </p:sp>
      <p:sp>
        <p:nvSpPr>
          <p:cNvPr id="271" name="Google Shape;271;p24"/>
          <p:cNvSpPr txBox="1"/>
          <p:nvPr/>
        </p:nvSpPr>
        <p:spPr>
          <a:xfrm>
            <a:off x="1706024" y="3900350"/>
            <a:ext cx="6648000" cy="39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317">
                <a:solidFill>
                  <a:schemeClr val="lt1"/>
                </a:solidFill>
                <a:latin typeface="Lato"/>
                <a:ea typeface="Lato"/>
                <a:cs typeface="Lato"/>
                <a:sym typeface="Lato"/>
              </a:rPr>
              <a:t>Calculamos el ratio (%) de incidencias . </a:t>
            </a:r>
            <a:endParaRPr sz="1200">
              <a:solidFill>
                <a:srgbClr val="FFFFFF"/>
              </a:solidFill>
              <a:latin typeface="Roboto"/>
              <a:ea typeface="Roboto"/>
              <a:cs typeface="Roboto"/>
              <a:sym typeface="Roboto"/>
            </a:endParaRPr>
          </a:p>
        </p:txBody>
      </p:sp>
      <p:sp>
        <p:nvSpPr>
          <p:cNvPr id="272" name="Google Shape;27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73" name="Google Shape;273;p24"/>
          <p:cNvSpPr txBox="1"/>
          <p:nvPr>
            <p:ph type="title"/>
          </p:nvPr>
        </p:nvSpPr>
        <p:spPr>
          <a:xfrm>
            <a:off x="1315275" y="582350"/>
            <a:ext cx="7038900" cy="56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latin typeface="Roboto"/>
                <a:ea typeface="Roboto"/>
                <a:cs typeface="Roboto"/>
                <a:sym typeface="Roboto"/>
              </a:rPr>
              <a:t>PROCESO:</a:t>
            </a:r>
            <a:endParaRPr>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77" name="Shape 277"/>
        <p:cNvGrpSpPr/>
        <p:nvPr/>
      </p:nvGrpSpPr>
      <p:grpSpPr>
        <a:xfrm>
          <a:off x="0" y="0"/>
          <a:ext cx="0" cy="0"/>
          <a:chOff x="0" y="0"/>
          <a:chExt cx="0" cy="0"/>
        </a:xfrm>
      </p:grpSpPr>
      <p:pic>
        <p:nvPicPr>
          <p:cNvPr id="278" name="Google Shape;278;p25" title="Screenshot 2025-11-13 at 14.28.12.png"/>
          <p:cNvPicPr preferRelativeResize="0"/>
          <p:nvPr/>
        </p:nvPicPr>
        <p:blipFill>
          <a:blip r:embed="rId3">
            <a:alphaModFix/>
          </a:blip>
          <a:stretch>
            <a:fillRect/>
          </a:stretch>
        </p:blipFill>
        <p:spPr>
          <a:xfrm>
            <a:off x="1986025" y="441725"/>
            <a:ext cx="5171950" cy="3632925"/>
          </a:xfrm>
          <a:prstGeom prst="rect">
            <a:avLst/>
          </a:prstGeom>
          <a:noFill/>
          <a:ln>
            <a:noFill/>
          </a:ln>
        </p:spPr>
      </p:pic>
      <p:sp>
        <p:nvSpPr>
          <p:cNvPr id="279" name="Google Shape;279;p25"/>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Variaci</a:t>
            </a:r>
            <a:r>
              <a:rPr lang="es"/>
              <a:t>ón de tasa de incidentes</a:t>
            </a:r>
            <a:endParaRPr/>
          </a:p>
        </p:txBody>
      </p:sp>
      <p:sp>
        <p:nvSpPr>
          <p:cNvPr id="280" name="Google Shape;280;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84" name="Shape 284"/>
        <p:cNvGrpSpPr/>
        <p:nvPr/>
      </p:nvGrpSpPr>
      <p:grpSpPr>
        <a:xfrm>
          <a:off x="0" y="0"/>
          <a:ext cx="0" cy="0"/>
          <a:chOff x="0" y="0"/>
          <a:chExt cx="0" cy="0"/>
        </a:xfrm>
      </p:grpSpPr>
      <p:sp>
        <p:nvSpPr>
          <p:cNvPr id="285" name="Google Shape;285;p26"/>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Promedio de incidentes por Cohorte</a:t>
            </a:r>
            <a:endParaRPr/>
          </a:p>
        </p:txBody>
      </p:sp>
      <p:pic>
        <p:nvPicPr>
          <p:cNvPr id="286" name="Google Shape;286;p26" title="Screenshot 2025-11-13 at 14.29.20.png"/>
          <p:cNvPicPr preferRelativeResize="0"/>
          <p:nvPr/>
        </p:nvPicPr>
        <p:blipFill>
          <a:blip r:embed="rId3">
            <a:alphaModFix/>
          </a:blip>
          <a:stretch>
            <a:fillRect/>
          </a:stretch>
        </p:blipFill>
        <p:spPr>
          <a:xfrm>
            <a:off x="1969300" y="304800"/>
            <a:ext cx="5205401" cy="4000576"/>
          </a:xfrm>
          <a:prstGeom prst="rect">
            <a:avLst/>
          </a:prstGeom>
          <a:noFill/>
          <a:ln>
            <a:noFill/>
          </a:ln>
        </p:spPr>
      </p:pic>
      <p:sp>
        <p:nvSpPr>
          <p:cNvPr id="287" name="Google Shape;287;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288" name="Google Shape;288;p26"/>
          <p:cNvPicPr preferRelativeResize="0"/>
          <p:nvPr/>
        </p:nvPicPr>
        <p:blipFill>
          <a:blip r:embed="rId4">
            <a:alphaModFix/>
          </a:blip>
          <a:stretch>
            <a:fillRect/>
          </a:stretch>
        </p:blipFill>
        <p:spPr>
          <a:xfrm>
            <a:off x="7513900" y="304800"/>
            <a:ext cx="1317575" cy="3857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292" name="Shape 292"/>
        <p:cNvGrpSpPr/>
        <p:nvPr/>
      </p:nvGrpSpPr>
      <p:grpSpPr>
        <a:xfrm>
          <a:off x="0" y="0"/>
          <a:ext cx="0" cy="0"/>
          <a:chOff x="0" y="0"/>
          <a:chExt cx="0" cy="0"/>
        </a:xfrm>
      </p:grpSpPr>
      <p:sp>
        <p:nvSpPr>
          <p:cNvPr id="293" name="Google Shape;293;p27"/>
          <p:cNvSpPr txBox="1"/>
          <p:nvPr>
            <p:ph type="title"/>
          </p:nvPr>
        </p:nvSpPr>
        <p:spPr>
          <a:xfrm>
            <a:off x="1251200" y="683100"/>
            <a:ext cx="7545600" cy="68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a:latin typeface="Roboto"/>
                <a:ea typeface="Roboto"/>
                <a:cs typeface="Roboto"/>
                <a:sym typeface="Roboto"/>
              </a:rPr>
              <a:t>MÉTRICA</a:t>
            </a:r>
            <a:r>
              <a:rPr lang="es">
                <a:latin typeface="Roboto"/>
                <a:ea typeface="Roboto"/>
                <a:cs typeface="Roboto"/>
                <a:sym typeface="Roboto"/>
              </a:rPr>
              <a:t> 3: GANANCIAS GENERADAS POR COHORTE</a:t>
            </a:r>
            <a:endParaRPr>
              <a:latin typeface="Roboto"/>
              <a:ea typeface="Roboto"/>
              <a:cs typeface="Roboto"/>
              <a:sym typeface="Roboto"/>
            </a:endParaRPr>
          </a:p>
        </p:txBody>
      </p:sp>
      <p:grpSp>
        <p:nvGrpSpPr>
          <p:cNvPr id="294" name="Google Shape;294;p27"/>
          <p:cNvGrpSpPr/>
          <p:nvPr/>
        </p:nvGrpSpPr>
        <p:grpSpPr>
          <a:xfrm>
            <a:off x="1129300" y="2094900"/>
            <a:ext cx="1944600" cy="1569600"/>
            <a:chOff x="1126863" y="2013875"/>
            <a:chExt cx="1944600" cy="1569600"/>
          </a:xfrm>
        </p:grpSpPr>
        <p:sp>
          <p:nvSpPr>
            <p:cNvPr id="295" name="Google Shape;295;p27"/>
            <p:cNvSpPr/>
            <p:nvPr/>
          </p:nvSpPr>
          <p:spPr>
            <a:xfrm>
              <a:off x="1126863" y="2013875"/>
              <a:ext cx="1944600" cy="1569600"/>
            </a:xfrm>
            <a:prstGeom prst="round2DiagRect">
              <a:avLst>
                <a:gd fmla="val 0" name="adj1"/>
                <a:gd fmla="val 17764"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7"/>
            <p:cNvSpPr txBox="1"/>
            <p:nvPr/>
          </p:nvSpPr>
          <p:spPr>
            <a:xfrm>
              <a:off x="1373313" y="2474225"/>
              <a:ext cx="1451700" cy="6489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600">
                  <a:solidFill>
                    <a:srgbClr val="FFFFFF"/>
                  </a:solidFill>
                  <a:latin typeface="Roboto"/>
                  <a:ea typeface="Roboto"/>
                  <a:cs typeface="Roboto"/>
                  <a:sym typeface="Roboto"/>
                </a:rPr>
                <a:t>OBJETIVO DE LA MÉTRICA</a:t>
              </a:r>
              <a:endParaRPr sz="1600">
                <a:solidFill>
                  <a:srgbClr val="FFFFFF"/>
                </a:solidFill>
                <a:latin typeface="Roboto"/>
                <a:ea typeface="Roboto"/>
                <a:cs typeface="Roboto"/>
                <a:sym typeface="Roboto"/>
              </a:endParaRPr>
            </a:p>
          </p:txBody>
        </p:sp>
      </p:grpSp>
      <p:grpSp>
        <p:nvGrpSpPr>
          <p:cNvPr id="297" name="Google Shape;297;p27"/>
          <p:cNvGrpSpPr/>
          <p:nvPr/>
        </p:nvGrpSpPr>
        <p:grpSpPr>
          <a:xfrm>
            <a:off x="3073825" y="2094900"/>
            <a:ext cx="4940876" cy="1569600"/>
            <a:chOff x="5015938" y="2013875"/>
            <a:chExt cx="3001200" cy="1569600"/>
          </a:xfrm>
        </p:grpSpPr>
        <p:sp>
          <p:nvSpPr>
            <p:cNvPr id="298" name="Google Shape;298;p27"/>
            <p:cNvSpPr/>
            <p:nvPr/>
          </p:nvSpPr>
          <p:spPr>
            <a:xfrm>
              <a:off x="5015938" y="2013875"/>
              <a:ext cx="3001200" cy="1569600"/>
            </a:xfrm>
            <a:prstGeom prst="round2DiagRect">
              <a:avLst>
                <a:gd fmla="val 0" name="adj1"/>
                <a:gd fmla="val 17764" name="adj2"/>
              </a:avLst>
            </a:prstGeom>
            <a:gradFill>
              <a:gsLst>
                <a:gs pos="0">
                  <a:srgbClr val="3176EE"/>
                </a:gs>
                <a:gs pos="100000">
                  <a:srgbClr val="113D8A"/>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99" name="Google Shape;299;p27"/>
            <p:cNvSpPr txBox="1"/>
            <p:nvPr/>
          </p:nvSpPr>
          <p:spPr>
            <a:xfrm>
              <a:off x="5142387" y="2297514"/>
              <a:ext cx="2748300" cy="10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a:p>
              <a:pPr indent="0" lvl="0" marL="0" rtl="0" algn="l">
                <a:lnSpc>
                  <a:spcPct val="115000"/>
                </a:lnSpc>
                <a:spcBef>
                  <a:spcPts val="0"/>
                </a:spcBef>
                <a:spcAft>
                  <a:spcPts val="1200"/>
                </a:spcAft>
                <a:buNone/>
              </a:pPr>
              <a:r>
                <a:rPr lang="es">
                  <a:solidFill>
                    <a:schemeClr val="lt1"/>
                  </a:solidFill>
                  <a:latin typeface="Roboto"/>
                  <a:ea typeface="Roboto"/>
                  <a:cs typeface="Roboto"/>
                  <a:sym typeface="Roboto"/>
                </a:rPr>
                <a:t>Calcular las ganancias generadas por cada cohorte y determinar </a:t>
              </a:r>
              <a:r>
                <a:rPr lang="es">
                  <a:solidFill>
                    <a:schemeClr val="lt1"/>
                  </a:solidFill>
                  <a:latin typeface="Roboto"/>
                  <a:ea typeface="Roboto"/>
                  <a:cs typeface="Roboto"/>
                  <a:sym typeface="Roboto"/>
                </a:rPr>
                <a:t>el LTV de los clientes</a:t>
              </a:r>
              <a:r>
                <a:rPr lang="es">
                  <a:solidFill>
                    <a:schemeClr val="lt1"/>
                  </a:solidFill>
                  <a:latin typeface="Roboto"/>
                  <a:ea typeface="Roboto"/>
                  <a:cs typeface="Roboto"/>
                  <a:sym typeface="Roboto"/>
                </a:rPr>
                <a:t>.</a:t>
              </a:r>
              <a:endParaRPr>
                <a:solidFill>
                  <a:srgbClr val="FFFFFF"/>
                </a:solidFill>
                <a:latin typeface="Roboto"/>
                <a:ea typeface="Roboto"/>
                <a:cs typeface="Roboto"/>
                <a:sym typeface="Roboto"/>
              </a:endParaRPr>
            </a:p>
          </p:txBody>
        </p:sp>
      </p:grpSp>
      <p:grpSp>
        <p:nvGrpSpPr>
          <p:cNvPr id="300" name="Google Shape;300;p27"/>
          <p:cNvGrpSpPr/>
          <p:nvPr/>
        </p:nvGrpSpPr>
        <p:grpSpPr>
          <a:xfrm>
            <a:off x="2927059" y="2749507"/>
            <a:ext cx="261571" cy="260379"/>
            <a:chOff x="4858109" y="2631368"/>
            <a:chExt cx="316442" cy="315000"/>
          </a:xfrm>
        </p:grpSpPr>
        <p:sp>
          <p:nvSpPr>
            <p:cNvPr id="301" name="Google Shape;301;p27"/>
            <p:cNvSpPr/>
            <p:nvPr/>
          </p:nvSpPr>
          <p:spPr>
            <a:xfrm>
              <a:off x="4859551" y="2631368"/>
              <a:ext cx="315000" cy="3150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7"/>
            <p:cNvSpPr/>
            <p:nvPr/>
          </p:nvSpPr>
          <p:spPr>
            <a:xfrm>
              <a:off x="4858109" y="2739300"/>
              <a:ext cx="239100" cy="99000"/>
            </a:xfrm>
            <a:prstGeom prst="rightArrow">
              <a:avLst>
                <a:gd fmla="val 32020" name="adj1"/>
                <a:gd fmla="val 66970" name="adj2"/>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s"/>
              </a:br>
              <a:endParaRPr/>
            </a:p>
          </p:txBody>
        </p:sp>
      </p:grpSp>
      <p:sp>
        <p:nvSpPr>
          <p:cNvPr id="303" name="Google Shape;303;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07" name="Shape 307"/>
        <p:cNvGrpSpPr/>
        <p:nvPr/>
      </p:nvGrpSpPr>
      <p:grpSpPr>
        <a:xfrm>
          <a:off x="0" y="0"/>
          <a:ext cx="0" cy="0"/>
          <a:chOff x="0" y="0"/>
          <a:chExt cx="0" cy="0"/>
        </a:xfrm>
      </p:grpSpPr>
      <p:sp>
        <p:nvSpPr>
          <p:cNvPr id="308" name="Google Shape;308;p28"/>
          <p:cNvSpPr/>
          <p:nvPr/>
        </p:nvSpPr>
        <p:spPr>
          <a:xfrm rot="5400000">
            <a:off x="4553927" y="402800"/>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8"/>
          <p:cNvSpPr/>
          <p:nvPr/>
        </p:nvSpPr>
        <p:spPr>
          <a:xfrm rot="5400000">
            <a:off x="4553927" y="-377425"/>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8"/>
          <p:cNvSpPr/>
          <p:nvPr/>
        </p:nvSpPr>
        <p:spPr>
          <a:xfrm rot="5400000">
            <a:off x="4553927" y="-1157650"/>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8"/>
          <p:cNvSpPr/>
          <p:nvPr/>
        </p:nvSpPr>
        <p:spPr>
          <a:xfrm rot="5400000">
            <a:off x="4553927" y="-1937875"/>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8"/>
          <p:cNvSpPr/>
          <p:nvPr/>
        </p:nvSpPr>
        <p:spPr>
          <a:xfrm>
            <a:off x="1227685" y="1559626"/>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1</a:t>
            </a:r>
            <a:endParaRPr b="1" sz="1200">
              <a:solidFill>
                <a:srgbClr val="0C57D3"/>
              </a:solidFill>
              <a:latin typeface="Roboto"/>
              <a:ea typeface="Roboto"/>
              <a:cs typeface="Roboto"/>
              <a:sym typeface="Roboto"/>
            </a:endParaRPr>
          </a:p>
        </p:txBody>
      </p:sp>
      <p:sp>
        <p:nvSpPr>
          <p:cNvPr id="313" name="Google Shape;313;p28"/>
          <p:cNvSpPr txBox="1"/>
          <p:nvPr/>
        </p:nvSpPr>
        <p:spPr>
          <a:xfrm>
            <a:off x="1601775" y="1540775"/>
            <a:ext cx="6917700" cy="440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s">
                <a:solidFill>
                  <a:schemeClr val="lt1"/>
                </a:solidFill>
                <a:latin typeface="Roboto"/>
                <a:ea typeface="Roboto"/>
                <a:cs typeface="Roboto"/>
                <a:sym typeface="Roboto"/>
              </a:rPr>
              <a:t>Agrupamos por grupos y calculamos la sumatoria total de las ganancias por cohorte.</a:t>
            </a:r>
            <a:endParaRPr>
              <a:solidFill>
                <a:srgbClr val="FFFFFF"/>
              </a:solidFill>
              <a:latin typeface="Roboto"/>
              <a:ea typeface="Roboto"/>
              <a:cs typeface="Roboto"/>
              <a:sym typeface="Roboto"/>
            </a:endParaRPr>
          </a:p>
        </p:txBody>
      </p:sp>
      <p:sp>
        <p:nvSpPr>
          <p:cNvPr id="314" name="Google Shape;314;p28"/>
          <p:cNvSpPr/>
          <p:nvPr/>
        </p:nvSpPr>
        <p:spPr>
          <a:xfrm>
            <a:off x="1262060" y="2339901"/>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2</a:t>
            </a:r>
            <a:endParaRPr b="1" sz="1200">
              <a:solidFill>
                <a:srgbClr val="0C57D3"/>
              </a:solidFill>
              <a:latin typeface="Roboto"/>
              <a:ea typeface="Roboto"/>
              <a:cs typeface="Roboto"/>
              <a:sym typeface="Roboto"/>
            </a:endParaRPr>
          </a:p>
        </p:txBody>
      </p:sp>
      <p:sp>
        <p:nvSpPr>
          <p:cNvPr id="315" name="Google Shape;315;p28"/>
          <p:cNvSpPr txBox="1"/>
          <p:nvPr/>
        </p:nvSpPr>
        <p:spPr>
          <a:xfrm>
            <a:off x="1706032" y="2330300"/>
            <a:ext cx="6558300" cy="393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a:solidFill>
                  <a:schemeClr val="lt1"/>
                </a:solidFill>
                <a:latin typeface="Roboto"/>
                <a:ea typeface="Roboto"/>
                <a:cs typeface="Roboto"/>
                <a:sym typeface="Roboto"/>
              </a:rPr>
              <a:t>Calculamos la sumatoria de los usuarios de cada cohorte.</a:t>
            </a:r>
            <a:endParaRPr>
              <a:solidFill>
                <a:srgbClr val="FFFFFF"/>
              </a:solidFill>
              <a:latin typeface="Roboto"/>
              <a:ea typeface="Roboto"/>
              <a:cs typeface="Roboto"/>
              <a:sym typeface="Roboto"/>
            </a:endParaRPr>
          </a:p>
        </p:txBody>
      </p:sp>
      <p:sp>
        <p:nvSpPr>
          <p:cNvPr id="316" name="Google Shape;316;p28"/>
          <p:cNvSpPr/>
          <p:nvPr/>
        </p:nvSpPr>
        <p:spPr>
          <a:xfrm>
            <a:off x="1262060" y="3124926"/>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3</a:t>
            </a:r>
            <a:endParaRPr b="1" sz="1200">
              <a:solidFill>
                <a:srgbClr val="0C57D3"/>
              </a:solidFill>
              <a:latin typeface="Roboto"/>
              <a:ea typeface="Roboto"/>
              <a:cs typeface="Roboto"/>
              <a:sym typeface="Roboto"/>
            </a:endParaRPr>
          </a:p>
        </p:txBody>
      </p:sp>
      <p:sp>
        <p:nvSpPr>
          <p:cNvPr id="317" name="Google Shape;317;p28"/>
          <p:cNvSpPr txBox="1"/>
          <p:nvPr/>
        </p:nvSpPr>
        <p:spPr>
          <a:xfrm>
            <a:off x="1706060" y="3115323"/>
            <a:ext cx="2341500" cy="393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
                <a:solidFill>
                  <a:srgbClr val="FFFFFF"/>
                </a:solidFill>
                <a:latin typeface="Roboto"/>
                <a:ea typeface="Roboto"/>
                <a:cs typeface="Roboto"/>
                <a:sym typeface="Roboto"/>
              </a:rPr>
              <a:t>Juntamos las dos tablas.</a:t>
            </a:r>
            <a:endParaRPr>
              <a:solidFill>
                <a:srgbClr val="FFFFFF"/>
              </a:solidFill>
              <a:latin typeface="Roboto"/>
              <a:ea typeface="Roboto"/>
              <a:cs typeface="Roboto"/>
              <a:sym typeface="Roboto"/>
            </a:endParaRPr>
          </a:p>
        </p:txBody>
      </p:sp>
      <p:sp>
        <p:nvSpPr>
          <p:cNvPr id="318" name="Google Shape;318;p28"/>
          <p:cNvSpPr/>
          <p:nvPr/>
        </p:nvSpPr>
        <p:spPr>
          <a:xfrm>
            <a:off x="1262060" y="3909951"/>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4</a:t>
            </a:r>
            <a:endParaRPr b="1" sz="1200">
              <a:solidFill>
                <a:srgbClr val="0C57D3"/>
              </a:solidFill>
              <a:latin typeface="Roboto"/>
              <a:ea typeface="Roboto"/>
              <a:cs typeface="Roboto"/>
              <a:sym typeface="Roboto"/>
            </a:endParaRPr>
          </a:p>
        </p:txBody>
      </p:sp>
      <p:sp>
        <p:nvSpPr>
          <p:cNvPr id="319" name="Google Shape;319;p28"/>
          <p:cNvSpPr txBox="1"/>
          <p:nvPr/>
        </p:nvSpPr>
        <p:spPr>
          <a:xfrm>
            <a:off x="1706034" y="3900350"/>
            <a:ext cx="6257400" cy="393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
                <a:solidFill>
                  <a:srgbClr val="FFFFFF"/>
                </a:solidFill>
                <a:latin typeface="Roboto"/>
                <a:ea typeface="Roboto"/>
                <a:cs typeface="Roboto"/>
                <a:sym typeface="Roboto"/>
              </a:rPr>
              <a:t>Calculamos los ingresos por usuarios de cada grupo.</a:t>
            </a:r>
            <a:endParaRPr>
              <a:solidFill>
                <a:srgbClr val="FFFFFF"/>
              </a:solidFill>
              <a:latin typeface="Roboto"/>
              <a:ea typeface="Roboto"/>
              <a:cs typeface="Roboto"/>
              <a:sym typeface="Roboto"/>
            </a:endParaRPr>
          </a:p>
        </p:txBody>
      </p:sp>
      <p:sp>
        <p:nvSpPr>
          <p:cNvPr id="320" name="Google Shape;320;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21" name="Google Shape;321;p28"/>
          <p:cNvSpPr txBox="1"/>
          <p:nvPr>
            <p:ph type="title"/>
          </p:nvPr>
        </p:nvSpPr>
        <p:spPr>
          <a:xfrm>
            <a:off x="1315275" y="582350"/>
            <a:ext cx="7038900" cy="56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latin typeface="Roboto"/>
                <a:ea typeface="Roboto"/>
                <a:cs typeface="Roboto"/>
                <a:sym typeface="Roboto"/>
              </a:rPr>
              <a:t>PROCESO:</a:t>
            </a:r>
            <a:endParaRPr>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25" name="Shape 325"/>
        <p:cNvGrpSpPr/>
        <p:nvPr/>
      </p:nvGrpSpPr>
      <p:grpSpPr>
        <a:xfrm>
          <a:off x="0" y="0"/>
          <a:ext cx="0" cy="0"/>
          <a:chOff x="0" y="0"/>
          <a:chExt cx="0" cy="0"/>
        </a:xfrm>
      </p:grpSpPr>
      <p:sp>
        <p:nvSpPr>
          <p:cNvPr id="326" name="Google Shape;326;p29"/>
          <p:cNvSpPr txBox="1"/>
          <p:nvPr>
            <p:ph type="title"/>
          </p:nvPr>
        </p:nvSpPr>
        <p:spPr>
          <a:xfrm>
            <a:off x="1297500" y="590500"/>
            <a:ext cx="7038900" cy="71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a:t>
            </a:r>
            <a:r>
              <a:rPr lang="es"/>
              <a:t>ÓDIGO</a:t>
            </a:r>
            <a:endParaRPr/>
          </a:p>
        </p:txBody>
      </p:sp>
      <p:sp>
        <p:nvSpPr>
          <p:cNvPr id="327" name="Google Shape;327;p29"/>
          <p:cNvSpPr txBox="1"/>
          <p:nvPr>
            <p:ph idx="1" type="body"/>
          </p:nvPr>
        </p:nvSpPr>
        <p:spPr>
          <a:xfrm>
            <a:off x="1297500" y="1470300"/>
            <a:ext cx="6817500" cy="469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400">
                <a:latin typeface="Roboto"/>
                <a:ea typeface="Roboto"/>
                <a:cs typeface="Roboto"/>
                <a:sym typeface="Roboto"/>
              </a:rPr>
              <a:t>coho_mes = df_fees_with_cohort.groupby('created_at_x')['total_amount'].sum()</a:t>
            </a:r>
            <a:endParaRPr>
              <a:latin typeface="Roboto"/>
              <a:ea typeface="Roboto"/>
              <a:cs typeface="Roboto"/>
              <a:sym typeface="Roboto"/>
            </a:endParaRPr>
          </a:p>
        </p:txBody>
      </p:sp>
      <p:sp>
        <p:nvSpPr>
          <p:cNvPr id="328" name="Google Shape;328;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29" name="Google Shape;329;p29"/>
          <p:cNvSpPr/>
          <p:nvPr/>
        </p:nvSpPr>
        <p:spPr>
          <a:xfrm>
            <a:off x="683335" y="1518001"/>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1</a:t>
            </a:r>
            <a:endParaRPr b="1" sz="1200">
              <a:solidFill>
                <a:srgbClr val="0C57D3"/>
              </a:solidFill>
              <a:latin typeface="Roboto"/>
              <a:ea typeface="Roboto"/>
              <a:cs typeface="Roboto"/>
              <a:sym typeface="Roboto"/>
            </a:endParaRPr>
          </a:p>
        </p:txBody>
      </p:sp>
      <p:sp>
        <p:nvSpPr>
          <p:cNvPr id="330" name="Google Shape;330;p29"/>
          <p:cNvSpPr/>
          <p:nvPr/>
        </p:nvSpPr>
        <p:spPr>
          <a:xfrm>
            <a:off x="683335" y="2047101"/>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2</a:t>
            </a:r>
            <a:endParaRPr b="1" sz="1200">
              <a:solidFill>
                <a:srgbClr val="0C57D3"/>
              </a:solidFill>
              <a:latin typeface="Roboto"/>
              <a:ea typeface="Roboto"/>
              <a:cs typeface="Roboto"/>
              <a:sym typeface="Roboto"/>
            </a:endParaRPr>
          </a:p>
        </p:txBody>
      </p:sp>
      <p:sp>
        <p:nvSpPr>
          <p:cNvPr id="331" name="Google Shape;331;p29"/>
          <p:cNvSpPr/>
          <p:nvPr/>
        </p:nvSpPr>
        <p:spPr>
          <a:xfrm>
            <a:off x="683335" y="2717476"/>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3</a:t>
            </a:r>
            <a:endParaRPr b="1" sz="1200">
              <a:solidFill>
                <a:srgbClr val="0C57D3"/>
              </a:solidFill>
              <a:latin typeface="Roboto"/>
              <a:ea typeface="Roboto"/>
              <a:cs typeface="Roboto"/>
              <a:sym typeface="Roboto"/>
            </a:endParaRPr>
          </a:p>
        </p:txBody>
      </p:sp>
      <p:sp>
        <p:nvSpPr>
          <p:cNvPr id="332" name="Google Shape;332;p29"/>
          <p:cNvSpPr/>
          <p:nvPr/>
        </p:nvSpPr>
        <p:spPr>
          <a:xfrm>
            <a:off x="683335" y="3585197"/>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4</a:t>
            </a:r>
            <a:endParaRPr b="1" sz="1200">
              <a:solidFill>
                <a:srgbClr val="0C57D3"/>
              </a:solidFill>
              <a:latin typeface="Roboto"/>
              <a:ea typeface="Roboto"/>
              <a:cs typeface="Roboto"/>
              <a:sym typeface="Roboto"/>
            </a:endParaRPr>
          </a:p>
        </p:txBody>
      </p:sp>
      <p:sp>
        <p:nvSpPr>
          <p:cNvPr id="333" name="Google Shape;333;p29"/>
          <p:cNvSpPr txBox="1"/>
          <p:nvPr>
            <p:ph idx="1" type="body"/>
          </p:nvPr>
        </p:nvSpPr>
        <p:spPr>
          <a:xfrm>
            <a:off x="1297500" y="1999400"/>
            <a:ext cx="6817500" cy="469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400">
                <a:latin typeface="Roboto"/>
                <a:ea typeface="Roboto"/>
                <a:cs typeface="Roboto"/>
                <a:sym typeface="Roboto"/>
              </a:rPr>
              <a:t>mes_users = df_fees_with_cohort.groupby('created_at_x')['user_id'].nunique()</a:t>
            </a:r>
            <a:endParaRPr sz="1400">
              <a:latin typeface="Roboto"/>
              <a:ea typeface="Roboto"/>
              <a:cs typeface="Roboto"/>
              <a:sym typeface="Roboto"/>
            </a:endParaRPr>
          </a:p>
        </p:txBody>
      </p:sp>
      <p:sp>
        <p:nvSpPr>
          <p:cNvPr id="334" name="Google Shape;334;p29"/>
          <p:cNvSpPr txBox="1"/>
          <p:nvPr>
            <p:ph idx="1" type="body"/>
          </p:nvPr>
        </p:nvSpPr>
        <p:spPr>
          <a:xfrm>
            <a:off x="1297500" y="2447463"/>
            <a:ext cx="7175100" cy="914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400">
                <a:latin typeface="Roboto"/>
                <a:ea typeface="Roboto"/>
                <a:cs typeface="Roboto"/>
                <a:sym typeface="Roboto"/>
              </a:rPr>
              <a:t>mes_users_ren = mes_users.rename({'total_amount':'total_amount_other'})</a:t>
            </a:r>
            <a:endParaRPr sz="1400">
              <a:latin typeface="Roboto"/>
              <a:ea typeface="Roboto"/>
              <a:cs typeface="Roboto"/>
              <a:sym typeface="Roboto"/>
            </a:endParaRPr>
          </a:p>
          <a:p>
            <a:pPr indent="0" lvl="0" marL="0" rtl="0" algn="l">
              <a:lnSpc>
                <a:spcPct val="100000"/>
              </a:lnSpc>
              <a:spcBef>
                <a:spcPts val="300"/>
              </a:spcBef>
              <a:spcAft>
                <a:spcPts val="300"/>
              </a:spcAft>
              <a:buNone/>
            </a:pPr>
            <a:r>
              <a:rPr lang="es" sz="1400">
                <a:latin typeface="Roboto"/>
                <a:ea typeface="Roboto"/>
                <a:cs typeface="Roboto"/>
                <a:sym typeface="Roboto"/>
              </a:rPr>
              <a:t>mes_users = pd.merge(coho_mes, mes_users, on='created_at_x', how='left', suffixes=('', '_other'))</a:t>
            </a:r>
            <a:endParaRPr sz="1400">
              <a:latin typeface="Roboto"/>
              <a:ea typeface="Roboto"/>
              <a:cs typeface="Roboto"/>
              <a:sym typeface="Roboto"/>
            </a:endParaRPr>
          </a:p>
        </p:txBody>
      </p:sp>
      <p:sp>
        <p:nvSpPr>
          <p:cNvPr id="335" name="Google Shape;335;p29"/>
          <p:cNvSpPr txBox="1"/>
          <p:nvPr>
            <p:ph idx="1" type="body"/>
          </p:nvPr>
        </p:nvSpPr>
        <p:spPr>
          <a:xfrm>
            <a:off x="1297500" y="3355825"/>
            <a:ext cx="7175100" cy="1701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400">
                <a:latin typeface="Roboto"/>
                <a:ea typeface="Roboto"/>
                <a:cs typeface="Roboto"/>
                <a:sym typeface="Roboto"/>
              </a:rPr>
              <a:t>mes_users['LTV'] = mes_users['total_amount']/mes_users['user_id']</a:t>
            </a:r>
            <a:endParaRPr sz="1400">
              <a:latin typeface="Roboto"/>
              <a:ea typeface="Roboto"/>
              <a:cs typeface="Roboto"/>
              <a:sym typeface="Roboto"/>
            </a:endParaRPr>
          </a:p>
          <a:p>
            <a:pPr indent="0" lvl="0" marL="0" rtl="0" algn="l">
              <a:lnSpc>
                <a:spcPct val="100000"/>
              </a:lnSpc>
              <a:spcBef>
                <a:spcPts val="300"/>
              </a:spcBef>
              <a:spcAft>
                <a:spcPts val="0"/>
              </a:spcAft>
              <a:buNone/>
            </a:pPr>
            <a:r>
              <a:rPr lang="es" sz="1400">
                <a:latin typeface="Roboto"/>
                <a:ea typeface="Roboto"/>
                <a:cs typeface="Roboto"/>
                <a:sym typeface="Roboto"/>
              </a:rPr>
              <a:t>mes_users = mes_users.rename(columns={</a:t>
            </a:r>
            <a:endParaRPr sz="1400">
              <a:latin typeface="Roboto"/>
              <a:ea typeface="Roboto"/>
              <a:cs typeface="Roboto"/>
              <a:sym typeface="Roboto"/>
            </a:endParaRPr>
          </a:p>
          <a:p>
            <a:pPr indent="0" lvl="0" marL="0" rtl="0" algn="l">
              <a:lnSpc>
                <a:spcPct val="100000"/>
              </a:lnSpc>
              <a:spcBef>
                <a:spcPts val="300"/>
              </a:spcBef>
              <a:spcAft>
                <a:spcPts val="0"/>
              </a:spcAft>
              <a:buNone/>
            </a:pPr>
            <a:r>
              <a:rPr lang="es" sz="1400">
                <a:latin typeface="Roboto"/>
                <a:ea typeface="Roboto"/>
                <a:cs typeface="Roboto"/>
                <a:sym typeface="Roboto"/>
              </a:rPr>
              <a:t>    'created_at_x': 'cohort',</a:t>
            </a:r>
            <a:endParaRPr sz="1400">
              <a:latin typeface="Roboto"/>
              <a:ea typeface="Roboto"/>
              <a:cs typeface="Roboto"/>
              <a:sym typeface="Roboto"/>
            </a:endParaRPr>
          </a:p>
          <a:p>
            <a:pPr indent="0" lvl="0" marL="0" rtl="0" algn="l">
              <a:lnSpc>
                <a:spcPct val="100000"/>
              </a:lnSpc>
              <a:spcBef>
                <a:spcPts val="300"/>
              </a:spcBef>
              <a:spcAft>
                <a:spcPts val="0"/>
              </a:spcAft>
              <a:buNone/>
            </a:pPr>
            <a:r>
              <a:rPr lang="es" sz="1400">
                <a:latin typeface="Roboto"/>
                <a:ea typeface="Roboto"/>
                <a:cs typeface="Roboto"/>
                <a:sym typeface="Roboto"/>
              </a:rPr>
              <a:t>    'total_amount': 'Total amount per cohort',</a:t>
            </a:r>
            <a:endParaRPr sz="1400">
              <a:latin typeface="Roboto"/>
              <a:ea typeface="Roboto"/>
              <a:cs typeface="Roboto"/>
              <a:sym typeface="Roboto"/>
            </a:endParaRPr>
          </a:p>
          <a:p>
            <a:pPr indent="0" lvl="0" marL="0" rtl="0" algn="l">
              <a:lnSpc>
                <a:spcPct val="100000"/>
              </a:lnSpc>
              <a:spcBef>
                <a:spcPts val="300"/>
              </a:spcBef>
              <a:spcAft>
                <a:spcPts val="0"/>
              </a:spcAft>
              <a:buNone/>
            </a:pPr>
            <a:r>
              <a:rPr lang="es" sz="1400">
                <a:latin typeface="Roboto"/>
                <a:ea typeface="Roboto"/>
                <a:cs typeface="Roboto"/>
                <a:sym typeface="Roboto"/>
              </a:rPr>
              <a:t>    'user_id': 'Total users per cohort',</a:t>
            </a:r>
            <a:endParaRPr sz="1400">
              <a:latin typeface="Roboto"/>
              <a:ea typeface="Roboto"/>
              <a:cs typeface="Roboto"/>
              <a:sym typeface="Roboto"/>
            </a:endParaRPr>
          </a:p>
          <a:p>
            <a:pPr indent="0" lvl="0" marL="0" rtl="0" algn="l">
              <a:lnSpc>
                <a:spcPct val="100000"/>
              </a:lnSpc>
              <a:spcBef>
                <a:spcPts val="300"/>
              </a:spcBef>
              <a:spcAft>
                <a:spcPts val="0"/>
              </a:spcAft>
              <a:buNone/>
            </a:pPr>
            <a:r>
              <a:rPr lang="es" sz="1400">
                <a:latin typeface="Roboto"/>
                <a:ea typeface="Roboto"/>
                <a:cs typeface="Roboto"/>
                <a:sym typeface="Roboto"/>
              </a:rPr>
              <a:t>})</a:t>
            </a:r>
            <a:endParaRPr sz="1400">
              <a:latin typeface="Roboto"/>
              <a:ea typeface="Roboto"/>
              <a:cs typeface="Roboto"/>
              <a:sym typeface="Roboto"/>
            </a:endParaRPr>
          </a:p>
          <a:p>
            <a:pPr indent="0" lvl="0" marL="0" rtl="0" algn="l">
              <a:lnSpc>
                <a:spcPct val="100000"/>
              </a:lnSpc>
              <a:spcBef>
                <a:spcPts val="300"/>
              </a:spcBef>
              <a:spcAft>
                <a:spcPts val="300"/>
              </a:spcAft>
              <a:buNone/>
            </a:pPr>
            <a:r>
              <a:t/>
            </a:r>
            <a:endParaRPr sz="1400">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39" name="Shape 339"/>
        <p:cNvGrpSpPr/>
        <p:nvPr/>
      </p:nvGrpSpPr>
      <p:grpSpPr>
        <a:xfrm>
          <a:off x="0" y="0"/>
          <a:ext cx="0" cy="0"/>
          <a:chOff x="0" y="0"/>
          <a:chExt cx="0" cy="0"/>
        </a:xfrm>
      </p:grpSpPr>
      <p:sp>
        <p:nvSpPr>
          <p:cNvPr id="340" name="Google Shape;340;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341" name="Google Shape;341;p30" title="Screenshot 2025-11-13 at 17.59.48.png"/>
          <p:cNvPicPr preferRelativeResize="0"/>
          <p:nvPr/>
        </p:nvPicPr>
        <p:blipFill>
          <a:blip r:embed="rId3">
            <a:alphaModFix/>
          </a:blip>
          <a:stretch>
            <a:fillRect/>
          </a:stretch>
        </p:blipFill>
        <p:spPr>
          <a:xfrm>
            <a:off x="1637900" y="930850"/>
            <a:ext cx="5868200" cy="3281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45" name="Shape 345"/>
        <p:cNvGrpSpPr/>
        <p:nvPr/>
      </p:nvGrpSpPr>
      <p:grpSpPr>
        <a:xfrm>
          <a:off x="0" y="0"/>
          <a:ext cx="0" cy="0"/>
          <a:chOff x="0" y="0"/>
          <a:chExt cx="0" cy="0"/>
        </a:xfrm>
      </p:grpSpPr>
      <p:sp>
        <p:nvSpPr>
          <p:cNvPr id="346" name="Google Shape;346;p31"/>
          <p:cNvSpPr txBox="1"/>
          <p:nvPr>
            <p:ph idx="1" type="body"/>
          </p:nvPr>
        </p:nvSpPr>
        <p:spPr>
          <a:xfrm>
            <a:off x="812725" y="4305375"/>
            <a:ext cx="7868400" cy="52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1200">
                <a:latin typeface="Roboto"/>
                <a:ea typeface="Roboto"/>
                <a:cs typeface="Roboto"/>
                <a:sym typeface="Roboto"/>
              </a:rPr>
              <a:t>Con el paso del tiempo, el número total de usuarios aumenta, reflejando un crecimiento sostenido.</a:t>
            </a:r>
            <a:endParaRPr sz="1200">
              <a:latin typeface="Roboto"/>
              <a:ea typeface="Roboto"/>
              <a:cs typeface="Roboto"/>
              <a:sym typeface="Roboto"/>
            </a:endParaRPr>
          </a:p>
          <a:p>
            <a:pPr indent="0" lvl="0" marL="0" rtl="0" algn="l">
              <a:spcBef>
                <a:spcPts val="0"/>
              </a:spcBef>
              <a:spcAft>
                <a:spcPts val="0"/>
              </a:spcAft>
              <a:buNone/>
            </a:pPr>
            <a:r>
              <a:rPr lang="es" sz="1200">
                <a:latin typeface="Roboto"/>
                <a:ea typeface="Roboto"/>
                <a:cs typeface="Roboto"/>
                <a:sym typeface="Roboto"/>
              </a:rPr>
              <a:t>Sin embargo, el LTV promedio disminuye, lo que indica que cada usuario genera menos valor individualmente.</a:t>
            </a:r>
            <a:endParaRPr sz="1400">
              <a:latin typeface="Roboto"/>
              <a:ea typeface="Roboto"/>
              <a:cs typeface="Roboto"/>
              <a:sym typeface="Roboto"/>
            </a:endParaRPr>
          </a:p>
        </p:txBody>
      </p:sp>
      <p:pic>
        <p:nvPicPr>
          <p:cNvPr id="347" name="Google Shape;347;p31" title="Screenshot 2025-11-13 at 14.36.55.png"/>
          <p:cNvPicPr preferRelativeResize="0"/>
          <p:nvPr/>
        </p:nvPicPr>
        <p:blipFill>
          <a:blip r:embed="rId3">
            <a:alphaModFix/>
          </a:blip>
          <a:stretch>
            <a:fillRect/>
          </a:stretch>
        </p:blipFill>
        <p:spPr>
          <a:xfrm>
            <a:off x="1227925" y="304800"/>
            <a:ext cx="6688141" cy="4000575"/>
          </a:xfrm>
          <a:prstGeom prst="rect">
            <a:avLst/>
          </a:prstGeom>
          <a:noFill/>
          <a:ln>
            <a:noFill/>
          </a:ln>
        </p:spPr>
      </p:pic>
      <p:sp>
        <p:nvSpPr>
          <p:cNvPr id="348" name="Google Shape;34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49" name="Google Shape;349;p31"/>
          <p:cNvSpPr txBox="1"/>
          <p:nvPr/>
        </p:nvSpPr>
        <p:spPr>
          <a:xfrm>
            <a:off x="3497100" y="698488"/>
            <a:ext cx="647100" cy="35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B02B20"/>
                </a:solidFill>
                <a:latin typeface="Lato"/>
                <a:ea typeface="Lato"/>
                <a:cs typeface="Lato"/>
                <a:sym typeface="Lato"/>
              </a:rPr>
              <a:t>LTV</a:t>
            </a:r>
            <a:endParaRPr sz="1300">
              <a:solidFill>
                <a:srgbClr val="B02B20"/>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53" name="Shape 353"/>
        <p:cNvGrpSpPr/>
        <p:nvPr/>
      </p:nvGrpSpPr>
      <p:grpSpPr>
        <a:xfrm>
          <a:off x="0" y="0"/>
          <a:ext cx="0" cy="0"/>
          <a:chOff x="0" y="0"/>
          <a:chExt cx="0" cy="0"/>
        </a:xfrm>
      </p:grpSpPr>
      <p:sp>
        <p:nvSpPr>
          <p:cNvPr id="354" name="Google Shape;354;p32"/>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sz="1200">
                <a:latin typeface="Roboto"/>
                <a:ea typeface="Roboto"/>
                <a:cs typeface="Roboto"/>
                <a:sym typeface="Roboto"/>
              </a:rPr>
              <a:t>Se observa un aumento notable del LTV del primer al segundo grupo, seguido de una disminución progresiva en los siguientes.</a:t>
            </a:r>
            <a:endParaRPr sz="1400">
              <a:latin typeface="Roboto"/>
              <a:ea typeface="Roboto"/>
              <a:cs typeface="Roboto"/>
              <a:sym typeface="Roboto"/>
            </a:endParaRPr>
          </a:p>
        </p:txBody>
      </p:sp>
      <p:pic>
        <p:nvPicPr>
          <p:cNvPr id="355" name="Google Shape;355;p32" title="Screenshot 2025-11-13 at 14.37.39.png"/>
          <p:cNvPicPr preferRelativeResize="0"/>
          <p:nvPr/>
        </p:nvPicPr>
        <p:blipFill>
          <a:blip r:embed="rId3">
            <a:alphaModFix/>
          </a:blip>
          <a:stretch>
            <a:fillRect/>
          </a:stretch>
        </p:blipFill>
        <p:spPr>
          <a:xfrm>
            <a:off x="1829013" y="210275"/>
            <a:ext cx="5485982" cy="4000575"/>
          </a:xfrm>
          <a:prstGeom prst="rect">
            <a:avLst/>
          </a:prstGeom>
          <a:noFill/>
          <a:ln>
            <a:noFill/>
          </a:ln>
        </p:spPr>
      </p:pic>
      <p:sp>
        <p:nvSpPr>
          <p:cNvPr id="356" name="Google Shape;35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60" name="Shape 360"/>
        <p:cNvGrpSpPr/>
        <p:nvPr/>
      </p:nvGrpSpPr>
      <p:grpSpPr>
        <a:xfrm>
          <a:off x="0" y="0"/>
          <a:ext cx="0" cy="0"/>
          <a:chOff x="0" y="0"/>
          <a:chExt cx="0" cy="0"/>
        </a:xfrm>
      </p:grpSpPr>
      <p:sp>
        <p:nvSpPr>
          <p:cNvPr id="361" name="Google Shape;361;p33"/>
          <p:cNvSpPr txBox="1"/>
          <p:nvPr>
            <p:ph type="title"/>
          </p:nvPr>
        </p:nvSpPr>
        <p:spPr>
          <a:xfrm>
            <a:off x="1129300" y="798850"/>
            <a:ext cx="7614900" cy="68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latin typeface="Roboto"/>
                <a:ea typeface="Roboto"/>
                <a:cs typeface="Roboto"/>
                <a:sym typeface="Roboto"/>
              </a:rPr>
              <a:t>MÉTRICA 4: TIEMPO DE DEVOLUCIÓN DEL PRÉSTAMO</a:t>
            </a:r>
            <a:endParaRPr>
              <a:latin typeface="Roboto"/>
              <a:ea typeface="Roboto"/>
              <a:cs typeface="Roboto"/>
              <a:sym typeface="Roboto"/>
            </a:endParaRPr>
          </a:p>
        </p:txBody>
      </p:sp>
      <p:grpSp>
        <p:nvGrpSpPr>
          <p:cNvPr id="362" name="Google Shape;362;p33"/>
          <p:cNvGrpSpPr/>
          <p:nvPr/>
        </p:nvGrpSpPr>
        <p:grpSpPr>
          <a:xfrm>
            <a:off x="1129300" y="2094900"/>
            <a:ext cx="1944600" cy="1569600"/>
            <a:chOff x="1126863" y="2013875"/>
            <a:chExt cx="1944600" cy="1569600"/>
          </a:xfrm>
        </p:grpSpPr>
        <p:sp>
          <p:nvSpPr>
            <p:cNvPr id="363" name="Google Shape;363;p33"/>
            <p:cNvSpPr/>
            <p:nvPr/>
          </p:nvSpPr>
          <p:spPr>
            <a:xfrm>
              <a:off x="1126863" y="2013875"/>
              <a:ext cx="1944600" cy="1569600"/>
            </a:xfrm>
            <a:prstGeom prst="round2DiagRect">
              <a:avLst>
                <a:gd fmla="val 0" name="adj1"/>
                <a:gd fmla="val 17764"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3"/>
            <p:cNvSpPr txBox="1"/>
            <p:nvPr/>
          </p:nvSpPr>
          <p:spPr>
            <a:xfrm>
              <a:off x="1373313" y="2474225"/>
              <a:ext cx="1451700" cy="6489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600">
                  <a:solidFill>
                    <a:srgbClr val="FFFFFF"/>
                  </a:solidFill>
                  <a:latin typeface="Roboto"/>
                  <a:ea typeface="Roboto"/>
                  <a:cs typeface="Roboto"/>
                  <a:sym typeface="Roboto"/>
                </a:rPr>
                <a:t>OBJETIVO DE LA MÉTRICA</a:t>
              </a:r>
              <a:endParaRPr sz="1600">
                <a:solidFill>
                  <a:srgbClr val="FFFFFF"/>
                </a:solidFill>
                <a:latin typeface="Roboto"/>
                <a:ea typeface="Roboto"/>
                <a:cs typeface="Roboto"/>
                <a:sym typeface="Roboto"/>
              </a:endParaRPr>
            </a:p>
          </p:txBody>
        </p:sp>
      </p:grpSp>
      <p:grpSp>
        <p:nvGrpSpPr>
          <p:cNvPr id="365" name="Google Shape;365;p33"/>
          <p:cNvGrpSpPr/>
          <p:nvPr/>
        </p:nvGrpSpPr>
        <p:grpSpPr>
          <a:xfrm>
            <a:off x="3073825" y="2094900"/>
            <a:ext cx="4940876" cy="1569600"/>
            <a:chOff x="5015938" y="2013875"/>
            <a:chExt cx="3001200" cy="1569600"/>
          </a:xfrm>
        </p:grpSpPr>
        <p:sp>
          <p:nvSpPr>
            <p:cNvPr id="366" name="Google Shape;366;p33"/>
            <p:cNvSpPr/>
            <p:nvPr/>
          </p:nvSpPr>
          <p:spPr>
            <a:xfrm>
              <a:off x="5015938" y="2013875"/>
              <a:ext cx="3001200" cy="1569600"/>
            </a:xfrm>
            <a:prstGeom prst="round2DiagRect">
              <a:avLst>
                <a:gd fmla="val 0" name="adj1"/>
                <a:gd fmla="val 17764" name="adj2"/>
              </a:avLst>
            </a:prstGeom>
            <a:gradFill>
              <a:gsLst>
                <a:gs pos="0">
                  <a:srgbClr val="3176EE"/>
                </a:gs>
                <a:gs pos="100000">
                  <a:srgbClr val="113D8A"/>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67" name="Google Shape;367;p33"/>
            <p:cNvSpPr txBox="1"/>
            <p:nvPr/>
          </p:nvSpPr>
          <p:spPr>
            <a:xfrm>
              <a:off x="5142387" y="2297500"/>
              <a:ext cx="2748300" cy="10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lt1"/>
                  </a:solidFill>
                  <a:latin typeface="Roboto"/>
                  <a:ea typeface="Roboto"/>
                  <a:cs typeface="Roboto"/>
                  <a:sym typeface="Roboto"/>
                </a:rPr>
                <a:t>Identificar una nueva métrica útil para la gestión de préstamos de IronHack y comparar el tiempo de devolución de préstamos a lo largo de los distintos meses.</a:t>
              </a:r>
              <a:endParaRPr>
                <a:solidFill>
                  <a:schemeClr val="lt1"/>
                </a:solidFill>
                <a:latin typeface="Roboto"/>
                <a:ea typeface="Roboto"/>
                <a:cs typeface="Roboto"/>
                <a:sym typeface="Roboto"/>
              </a:endParaRPr>
            </a:p>
            <a:p>
              <a:pPr indent="0" lvl="0" marL="0" rtl="0" algn="l">
                <a:lnSpc>
                  <a:spcPct val="95000"/>
                </a:lnSpc>
                <a:spcBef>
                  <a:spcPts val="0"/>
                </a:spcBef>
                <a:spcAft>
                  <a:spcPts val="1200"/>
                </a:spcAft>
                <a:buNone/>
              </a:pPr>
              <a:r>
                <a:t/>
              </a:r>
              <a:endParaRPr>
                <a:solidFill>
                  <a:srgbClr val="FFFFFF"/>
                </a:solidFill>
                <a:latin typeface="Roboto"/>
                <a:ea typeface="Roboto"/>
                <a:cs typeface="Roboto"/>
                <a:sym typeface="Roboto"/>
              </a:endParaRPr>
            </a:p>
          </p:txBody>
        </p:sp>
      </p:grpSp>
      <p:grpSp>
        <p:nvGrpSpPr>
          <p:cNvPr id="368" name="Google Shape;368;p33"/>
          <p:cNvGrpSpPr/>
          <p:nvPr/>
        </p:nvGrpSpPr>
        <p:grpSpPr>
          <a:xfrm>
            <a:off x="2927059" y="2749507"/>
            <a:ext cx="261571" cy="260379"/>
            <a:chOff x="4858109" y="2631368"/>
            <a:chExt cx="316442" cy="315000"/>
          </a:xfrm>
        </p:grpSpPr>
        <p:sp>
          <p:nvSpPr>
            <p:cNvPr id="369" name="Google Shape;369;p33"/>
            <p:cNvSpPr/>
            <p:nvPr/>
          </p:nvSpPr>
          <p:spPr>
            <a:xfrm>
              <a:off x="4859551" y="2631368"/>
              <a:ext cx="315000" cy="3150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3"/>
            <p:cNvSpPr/>
            <p:nvPr/>
          </p:nvSpPr>
          <p:spPr>
            <a:xfrm>
              <a:off x="4858109" y="2739300"/>
              <a:ext cx="239100" cy="99000"/>
            </a:xfrm>
            <a:prstGeom prst="rightArrow">
              <a:avLst>
                <a:gd fmla="val 32020" name="adj1"/>
                <a:gd fmla="val 66970" name="adj2"/>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s"/>
              </a:br>
              <a:endParaRPr/>
            </a:p>
          </p:txBody>
        </p:sp>
      </p:grpSp>
      <p:sp>
        <p:nvSpPr>
          <p:cNvPr id="371" name="Google Shape;37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75" name="Shape 375"/>
        <p:cNvGrpSpPr/>
        <p:nvPr/>
      </p:nvGrpSpPr>
      <p:grpSpPr>
        <a:xfrm>
          <a:off x="0" y="0"/>
          <a:ext cx="0" cy="0"/>
          <a:chOff x="0" y="0"/>
          <a:chExt cx="0" cy="0"/>
        </a:xfrm>
      </p:grpSpPr>
      <p:sp>
        <p:nvSpPr>
          <p:cNvPr id="376" name="Google Shape;376;p34"/>
          <p:cNvSpPr/>
          <p:nvPr/>
        </p:nvSpPr>
        <p:spPr>
          <a:xfrm rot="5400000">
            <a:off x="4553927" y="402800"/>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4"/>
          <p:cNvSpPr/>
          <p:nvPr/>
        </p:nvSpPr>
        <p:spPr>
          <a:xfrm rot="5400000">
            <a:off x="4553927" y="-377425"/>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4"/>
          <p:cNvSpPr/>
          <p:nvPr/>
        </p:nvSpPr>
        <p:spPr>
          <a:xfrm rot="5400000">
            <a:off x="4553927" y="-1157650"/>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4"/>
          <p:cNvSpPr/>
          <p:nvPr/>
        </p:nvSpPr>
        <p:spPr>
          <a:xfrm rot="5400000">
            <a:off x="4553927" y="-1937875"/>
            <a:ext cx="561600" cy="7369200"/>
          </a:xfrm>
          <a:prstGeom prst="roundRect">
            <a:avLst>
              <a:gd fmla="val 50000"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4"/>
          <p:cNvSpPr/>
          <p:nvPr/>
        </p:nvSpPr>
        <p:spPr>
          <a:xfrm>
            <a:off x="1227685" y="1559626"/>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1</a:t>
            </a:r>
            <a:endParaRPr b="1" sz="1200">
              <a:solidFill>
                <a:srgbClr val="0C57D3"/>
              </a:solidFill>
              <a:latin typeface="Roboto"/>
              <a:ea typeface="Roboto"/>
              <a:cs typeface="Roboto"/>
              <a:sym typeface="Roboto"/>
            </a:endParaRPr>
          </a:p>
        </p:txBody>
      </p:sp>
      <p:sp>
        <p:nvSpPr>
          <p:cNvPr id="381" name="Google Shape;381;p34"/>
          <p:cNvSpPr txBox="1"/>
          <p:nvPr/>
        </p:nvSpPr>
        <p:spPr>
          <a:xfrm>
            <a:off x="1601775" y="1540775"/>
            <a:ext cx="6685500" cy="440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s" sz="1317">
                <a:solidFill>
                  <a:schemeClr val="lt1"/>
                </a:solidFill>
                <a:latin typeface="Lato"/>
                <a:ea typeface="Lato"/>
                <a:cs typeface="Lato"/>
                <a:sym typeface="Lato"/>
              </a:rPr>
              <a:t> Limpieza de datos según el interés de la métrica  (quitar elementos nulos)</a:t>
            </a:r>
            <a:endParaRPr sz="1300">
              <a:solidFill>
                <a:schemeClr val="lt1"/>
              </a:solidFill>
              <a:latin typeface="Roboto"/>
              <a:ea typeface="Roboto"/>
              <a:cs typeface="Roboto"/>
              <a:sym typeface="Roboto"/>
            </a:endParaRPr>
          </a:p>
        </p:txBody>
      </p:sp>
      <p:sp>
        <p:nvSpPr>
          <p:cNvPr id="382" name="Google Shape;382;p34"/>
          <p:cNvSpPr/>
          <p:nvPr/>
        </p:nvSpPr>
        <p:spPr>
          <a:xfrm>
            <a:off x="1262060" y="2339901"/>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2</a:t>
            </a:r>
            <a:endParaRPr b="1" sz="1200">
              <a:solidFill>
                <a:srgbClr val="0C57D3"/>
              </a:solidFill>
              <a:latin typeface="Roboto"/>
              <a:ea typeface="Roboto"/>
              <a:cs typeface="Roboto"/>
              <a:sym typeface="Roboto"/>
            </a:endParaRPr>
          </a:p>
        </p:txBody>
      </p:sp>
      <p:sp>
        <p:nvSpPr>
          <p:cNvPr id="383" name="Google Shape;383;p34"/>
          <p:cNvSpPr txBox="1"/>
          <p:nvPr/>
        </p:nvSpPr>
        <p:spPr>
          <a:xfrm>
            <a:off x="1706032" y="2330300"/>
            <a:ext cx="6558300" cy="39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317">
                <a:solidFill>
                  <a:schemeClr val="lt1"/>
                </a:solidFill>
                <a:latin typeface="Lato"/>
                <a:ea typeface="Lato"/>
                <a:cs typeface="Lato"/>
                <a:sym typeface="Lato"/>
              </a:rPr>
              <a:t>Cálculo de nueva métrica</a:t>
            </a:r>
            <a:endParaRPr>
              <a:solidFill>
                <a:schemeClr val="lt1"/>
              </a:solidFill>
              <a:latin typeface="Roboto"/>
              <a:ea typeface="Roboto"/>
              <a:cs typeface="Roboto"/>
              <a:sym typeface="Roboto"/>
            </a:endParaRPr>
          </a:p>
        </p:txBody>
      </p:sp>
      <p:sp>
        <p:nvSpPr>
          <p:cNvPr id="384" name="Google Shape;384;p34"/>
          <p:cNvSpPr/>
          <p:nvPr/>
        </p:nvSpPr>
        <p:spPr>
          <a:xfrm>
            <a:off x="1262060" y="3124926"/>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3</a:t>
            </a:r>
            <a:endParaRPr b="1" sz="1200">
              <a:solidFill>
                <a:srgbClr val="0C57D3"/>
              </a:solidFill>
              <a:latin typeface="Roboto"/>
              <a:ea typeface="Roboto"/>
              <a:cs typeface="Roboto"/>
              <a:sym typeface="Roboto"/>
            </a:endParaRPr>
          </a:p>
        </p:txBody>
      </p:sp>
      <p:sp>
        <p:nvSpPr>
          <p:cNvPr id="385" name="Google Shape;385;p34"/>
          <p:cNvSpPr txBox="1"/>
          <p:nvPr/>
        </p:nvSpPr>
        <p:spPr>
          <a:xfrm>
            <a:off x="1706025" y="3115325"/>
            <a:ext cx="6813300" cy="39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317">
                <a:solidFill>
                  <a:schemeClr val="lt1"/>
                </a:solidFill>
                <a:latin typeface="Lato"/>
                <a:ea typeface="Lato"/>
                <a:cs typeface="Lato"/>
                <a:sym typeface="Lato"/>
              </a:rPr>
              <a:t>Exportación a csv y normalización con excel</a:t>
            </a:r>
            <a:endParaRPr sz="1200">
              <a:solidFill>
                <a:srgbClr val="FFFFFF"/>
              </a:solidFill>
              <a:latin typeface="Roboto"/>
              <a:ea typeface="Roboto"/>
              <a:cs typeface="Roboto"/>
              <a:sym typeface="Roboto"/>
            </a:endParaRPr>
          </a:p>
        </p:txBody>
      </p:sp>
      <p:sp>
        <p:nvSpPr>
          <p:cNvPr id="386" name="Google Shape;386;p34"/>
          <p:cNvSpPr/>
          <p:nvPr/>
        </p:nvSpPr>
        <p:spPr>
          <a:xfrm>
            <a:off x="1262060" y="3909951"/>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rgbClr val="0C57D3"/>
                </a:solidFill>
                <a:latin typeface="Roboto"/>
                <a:ea typeface="Roboto"/>
                <a:cs typeface="Roboto"/>
                <a:sym typeface="Roboto"/>
              </a:rPr>
              <a:t>4</a:t>
            </a:r>
            <a:endParaRPr b="1" sz="1200">
              <a:solidFill>
                <a:srgbClr val="0C57D3"/>
              </a:solidFill>
              <a:latin typeface="Roboto"/>
              <a:ea typeface="Roboto"/>
              <a:cs typeface="Roboto"/>
              <a:sym typeface="Roboto"/>
            </a:endParaRPr>
          </a:p>
        </p:txBody>
      </p:sp>
      <p:sp>
        <p:nvSpPr>
          <p:cNvPr id="387" name="Google Shape;387;p34"/>
          <p:cNvSpPr txBox="1"/>
          <p:nvPr/>
        </p:nvSpPr>
        <p:spPr>
          <a:xfrm>
            <a:off x="1661174" y="3890750"/>
            <a:ext cx="6648000" cy="39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317">
                <a:solidFill>
                  <a:schemeClr val="lt1"/>
                </a:solidFill>
                <a:latin typeface="Lato"/>
                <a:ea typeface="Lato"/>
                <a:cs typeface="Lato"/>
                <a:sym typeface="Lato"/>
              </a:rPr>
              <a:t> Análisis final con Tableau</a:t>
            </a:r>
            <a:endParaRPr sz="1200">
              <a:solidFill>
                <a:srgbClr val="FFFFFF"/>
              </a:solidFill>
              <a:latin typeface="Roboto"/>
              <a:ea typeface="Roboto"/>
              <a:cs typeface="Roboto"/>
              <a:sym typeface="Roboto"/>
            </a:endParaRPr>
          </a:p>
        </p:txBody>
      </p:sp>
      <p:sp>
        <p:nvSpPr>
          <p:cNvPr id="388" name="Google Shape;388;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89" name="Google Shape;389;p34"/>
          <p:cNvSpPr txBox="1"/>
          <p:nvPr>
            <p:ph type="title"/>
          </p:nvPr>
        </p:nvSpPr>
        <p:spPr>
          <a:xfrm>
            <a:off x="1315275" y="582350"/>
            <a:ext cx="7038900" cy="56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latin typeface="Roboto"/>
                <a:ea typeface="Roboto"/>
                <a:cs typeface="Roboto"/>
                <a:sym typeface="Roboto"/>
              </a:rPr>
              <a:t>PROCESO:</a:t>
            </a:r>
            <a:endParaRPr>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93" name="Shape 393"/>
        <p:cNvGrpSpPr/>
        <p:nvPr/>
      </p:nvGrpSpPr>
      <p:grpSpPr>
        <a:xfrm>
          <a:off x="0" y="0"/>
          <a:ext cx="0" cy="0"/>
          <a:chOff x="0" y="0"/>
          <a:chExt cx="0" cy="0"/>
        </a:xfrm>
      </p:grpSpPr>
      <p:sp>
        <p:nvSpPr>
          <p:cNvPr id="394" name="Google Shape;394;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395" name="Google Shape;395;p35" title="promedio_tiempo_devolucion.png"/>
          <p:cNvPicPr preferRelativeResize="0"/>
          <p:nvPr/>
        </p:nvPicPr>
        <p:blipFill>
          <a:blip r:embed="rId3">
            <a:alphaModFix/>
          </a:blip>
          <a:stretch>
            <a:fillRect/>
          </a:stretch>
        </p:blipFill>
        <p:spPr>
          <a:xfrm>
            <a:off x="1134325" y="559875"/>
            <a:ext cx="7615101" cy="3895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99" name="Shape 399"/>
        <p:cNvGrpSpPr/>
        <p:nvPr/>
      </p:nvGrpSpPr>
      <p:grpSpPr>
        <a:xfrm>
          <a:off x="0" y="0"/>
          <a:ext cx="0" cy="0"/>
          <a:chOff x="0" y="0"/>
          <a:chExt cx="0" cy="0"/>
        </a:xfrm>
      </p:grpSpPr>
      <p:sp>
        <p:nvSpPr>
          <p:cNvPr id="400" name="Google Shape;400;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401" name="Google Shape;401;p36" title="median_por_transfer_type.png"/>
          <p:cNvPicPr preferRelativeResize="0"/>
          <p:nvPr/>
        </p:nvPicPr>
        <p:blipFill>
          <a:blip r:embed="rId3">
            <a:alphaModFix/>
          </a:blip>
          <a:stretch>
            <a:fillRect/>
          </a:stretch>
        </p:blipFill>
        <p:spPr>
          <a:xfrm>
            <a:off x="1380800" y="333850"/>
            <a:ext cx="2073425" cy="4263325"/>
          </a:xfrm>
          <a:prstGeom prst="rect">
            <a:avLst/>
          </a:prstGeom>
          <a:noFill/>
          <a:ln>
            <a:noFill/>
          </a:ln>
        </p:spPr>
      </p:pic>
      <p:sp>
        <p:nvSpPr>
          <p:cNvPr id="402" name="Google Shape;402;p36"/>
          <p:cNvSpPr txBox="1"/>
          <p:nvPr/>
        </p:nvSpPr>
        <p:spPr>
          <a:xfrm>
            <a:off x="3155850" y="333850"/>
            <a:ext cx="5521200" cy="41616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300">
              <a:solidFill>
                <a:schemeClr val="lt1"/>
              </a:solidFill>
              <a:latin typeface="Lato"/>
              <a:ea typeface="Lato"/>
              <a:cs typeface="Lato"/>
              <a:sym typeface="Lato"/>
            </a:endParaRPr>
          </a:p>
          <a:p>
            <a:pPr indent="0" lvl="0" marL="457200" rtl="0" algn="l">
              <a:spcBef>
                <a:spcPts val="0"/>
              </a:spcBef>
              <a:spcAft>
                <a:spcPts val="0"/>
              </a:spcAft>
              <a:buNone/>
            </a:pPr>
            <a:r>
              <a:t/>
            </a:r>
            <a:endParaRPr sz="1300">
              <a:solidFill>
                <a:schemeClr val="lt1"/>
              </a:solidFill>
              <a:latin typeface="Lato"/>
              <a:ea typeface="Lato"/>
              <a:cs typeface="Lato"/>
              <a:sym typeface="Lato"/>
            </a:endParaRPr>
          </a:p>
          <a:p>
            <a:pPr indent="0" lvl="0" marL="457200" rtl="0" algn="just">
              <a:spcBef>
                <a:spcPts val="0"/>
              </a:spcBef>
              <a:spcAft>
                <a:spcPts val="0"/>
              </a:spcAft>
              <a:buNone/>
            </a:pPr>
            <a:r>
              <a:rPr lang="es" sz="1800">
                <a:solidFill>
                  <a:schemeClr val="lt1"/>
                </a:solidFill>
                <a:latin typeface="Lato"/>
                <a:ea typeface="Lato"/>
                <a:cs typeface="Lato"/>
                <a:sym typeface="Lato"/>
              </a:rPr>
              <a:t>Las incorporaciones del mes de enero han tardado más tiempo en devolver el préstamo y las de noviembre menos.</a:t>
            </a:r>
            <a:endParaRPr sz="1800">
              <a:solidFill>
                <a:schemeClr val="lt1"/>
              </a:solidFill>
              <a:latin typeface="Lato"/>
              <a:ea typeface="Lato"/>
              <a:cs typeface="Lato"/>
              <a:sym typeface="Lato"/>
            </a:endParaRPr>
          </a:p>
          <a:p>
            <a:pPr indent="0" lvl="0" marL="457200" rtl="0" algn="just">
              <a:spcBef>
                <a:spcPts val="0"/>
              </a:spcBef>
              <a:spcAft>
                <a:spcPts val="0"/>
              </a:spcAft>
              <a:buNone/>
            </a:pPr>
            <a:r>
              <a:t/>
            </a:r>
            <a:endParaRPr sz="1800">
              <a:solidFill>
                <a:schemeClr val="lt1"/>
              </a:solidFill>
              <a:latin typeface="Lato"/>
              <a:ea typeface="Lato"/>
              <a:cs typeface="Lato"/>
              <a:sym typeface="Lato"/>
            </a:endParaRPr>
          </a:p>
          <a:p>
            <a:pPr indent="0" lvl="0" marL="0" rtl="0" algn="just">
              <a:spcBef>
                <a:spcPts val="0"/>
              </a:spcBef>
              <a:spcAft>
                <a:spcPts val="0"/>
              </a:spcAft>
              <a:buNone/>
            </a:pPr>
            <a:r>
              <a:t/>
            </a:r>
            <a:endParaRPr sz="1800">
              <a:solidFill>
                <a:schemeClr val="lt1"/>
              </a:solidFill>
              <a:latin typeface="Lato"/>
              <a:ea typeface="Lato"/>
              <a:cs typeface="Lato"/>
              <a:sym typeface="Lato"/>
            </a:endParaRPr>
          </a:p>
          <a:p>
            <a:pPr indent="0" lvl="0" marL="457200" rtl="0" algn="just">
              <a:spcBef>
                <a:spcPts val="0"/>
              </a:spcBef>
              <a:spcAft>
                <a:spcPts val="0"/>
              </a:spcAft>
              <a:buNone/>
            </a:pPr>
            <a:r>
              <a:t/>
            </a:r>
            <a:endParaRPr sz="1800">
              <a:solidFill>
                <a:schemeClr val="lt1"/>
              </a:solidFill>
              <a:latin typeface="Lato"/>
              <a:ea typeface="Lato"/>
              <a:cs typeface="Lato"/>
              <a:sym typeface="Lato"/>
            </a:endParaRPr>
          </a:p>
          <a:p>
            <a:pPr indent="0" lvl="0" marL="457200" rtl="0" algn="just">
              <a:spcBef>
                <a:spcPts val="0"/>
              </a:spcBef>
              <a:spcAft>
                <a:spcPts val="0"/>
              </a:spcAft>
              <a:buNone/>
            </a:pPr>
            <a:r>
              <a:t/>
            </a:r>
            <a:endParaRPr sz="1800">
              <a:solidFill>
                <a:schemeClr val="lt1"/>
              </a:solidFill>
              <a:latin typeface="Lato"/>
              <a:ea typeface="Lato"/>
              <a:cs typeface="Lato"/>
              <a:sym typeface="Lato"/>
            </a:endParaRPr>
          </a:p>
          <a:p>
            <a:pPr indent="0" lvl="0" marL="457200" rtl="0" algn="just">
              <a:spcBef>
                <a:spcPts val="0"/>
              </a:spcBef>
              <a:spcAft>
                <a:spcPts val="0"/>
              </a:spcAft>
              <a:buNone/>
            </a:pPr>
            <a:r>
              <a:rPr lang="es" sz="1800">
                <a:solidFill>
                  <a:schemeClr val="lt1"/>
                </a:solidFill>
                <a:latin typeface="Lato"/>
                <a:ea typeface="Lato"/>
                <a:cs typeface="Lato"/>
                <a:sym typeface="Lato"/>
              </a:rPr>
              <a:t>Aunque es bastante similar, los tipos de transferencia instantánea tienen un tiempo de devolución medio menor.</a:t>
            </a:r>
            <a:endParaRPr sz="1800">
              <a:solidFill>
                <a:schemeClr val="lt1"/>
              </a:solidFill>
              <a:latin typeface="Lato"/>
              <a:ea typeface="Lato"/>
              <a:cs typeface="Lato"/>
              <a:sym typeface="Lato"/>
            </a:endParaRPr>
          </a:p>
          <a:p>
            <a:pPr indent="0" lvl="0" marL="457200" rtl="0" algn="just">
              <a:spcBef>
                <a:spcPts val="0"/>
              </a:spcBef>
              <a:spcAft>
                <a:spcPts val="0"/>
              </a:spcAft>
              <a:buNone/>
            </a:pPr>
            <a:r>
              <a:t/>
            </a:r>
            <a:endParaRPr sz="1800">
              <a:solidFill>
                <a:schemeClr val="lt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406" name="Shape 406"/>
        <p:cNvGrpSpPr/>
        <p:nvPr/>
      </p:nvGrpSpPr>
      <p:grpSpPr>
        <a:xfrm>
          <a:off x="0" y="0"/>
          <a:ext cx="0" cy="0"/>
          <a:chOff x="0" y="0"/>
          <a:chExt cx="0" cy="0"/>
        </a:xfrm>
      </p:grpSpPr>
      <p:sp>
        <p:nvSpPr>
          <p:cNvPr id="407" name="Google Shape;407;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graphicFrame>
        <p:nvGraphicFramePr>
          <p:cNvPr id="408" name="Google Shape;408;p37"/>
          <p:cNvGraphicFramePr/>
          <p:nvPr/>
        </p:nvGraphicFramePr>
        <p:xfrm>
          <a:off x="1091400" y="539175"/>
          <a:ext cx="3000000" cy="3000000"/>
        </p:xfrm>
        <a:graphic>
          <a:graphicData uri="http://schemas.openxmlformats.org/drawingml/2006/table">
            <a:tbl>
              <a:tblPr>
                <a:noFill/>
                <a:tableStyleId>{8D69A13F-F70C-41B0-814A-8EAE7F894294}</a:tableStyleId>
              </a:tblPr>
              <a:tblGrid>
                <a:gridCol w="2019325"/>
                <a:gridCol w="2662150"/>
                <a:gridCol w="2904775"/>
              </a:tblGrid>
              <a:tr h="559550">
                <a:tc>
                  <a:txBody>
                    <a:bodyPr/>
                    <a:lstStyle/>
                    <a:p>
                      <a:pPr indent="0" lvl="0" marL="0" rtl="0" algn="l">
                        <a:spcBef>
                          <a:spcPts val="0"/>
                        </a:spcBef>
                        <a:spcAft>
                          <a:spcPts val="0"/>
                        </a:spcAft>
                        <a:buNone/>
                      </a:pPr>
                      <a:r>
                        <a:t/>
                      </a:r>
                      <a:endParaRPr>
                        <a:latin typeface="Roboto"/>
                        <a:ea typeface="Roboto"/>
                        <a:cs typeface="Roboto"/>
                        <a:sym typeface="Roboto"/>
                      </a:endParaRPr>
                    </a:p>
                  </a:txBody>
                  <a:tcPr marT="91425" marB="91425" marR="91425" marL="91425">
                    <a:gradFill>
                      <a:gsLst>
                        <a:gs pos="0">
                          <a:srgbClr val="1076D2"/>
                        </a:gs>
                        <a:gs pos="100000">
                          <a:srgbClr val="093053"/>
                        </a:gs>
                      </a:gsLst>
                      <a:lin ang="5400012" scaled="0"/>
                    </a:gradFill>
                  </a:tcPr>
                </a:tc>
                <a:tc>
                  <a:txBody>
                    <a:bodyPr/>
                    <a:lstStyle/>
                    <a:p>
                      <a:pPr indent="0" lvl="0" marL="0" rtl="0" algn="ctr">
                        <a:spcBef>
                          <a:spcPts val="0"/>
                        </a:spcBef>
                        <a:spcAft>
                          <a:spcPts val="0"/>
                        </a:spcAft>
                        <a:buNone/>
                      </a:pPr>
                      <a:r>
                        <a:rPr lang="es" sz="2200">
                          <a:solidFill>
                            <a:schemeClr val="lt1"/>
                          </a:solidFill>
                          <a:latin typeface="Roboto"/>
                          <a:ea typeface="Roboto"/>
                          <a:cs typeface="Roboto"/>
                          <a:sym typeface="Roboto"/>
                        </a:rPr>
                        <a:t>Obstáculo</a:t>
                      </a:r>
                      <a:endParaRPr sz="2200">
                        <a:latin typeface="Roboto"/>
                        <a:ea typeface="Roboto"/>
                        <a:cs typeface="Roboto"/>
                        <a:sym typeface="Roboto"/>
                      </a:endParaRPr>
                    </a:p>
                  </a:txBody>
                  <a:tcPr marT="91425" marB="91425" marR="91425" marL="91425">
                    <a:gradFill>
                      <a:gsLst>
                        <a:gs pos="0">
                          <a:srgbClr val="1076D2"/>
                        </a:gs>
                        <a:gs pos="100000">
                          <a:srgbClr val="093053"/>
                        </a:gs>
                      </a:gsLst>
                      <a:lin ang="5400012" scaled="0"/>
                    </a:gradFill>
                  </a:tcPr>
                </a:tc>
                <a:tc>
                  <a:txBody>
                    <a:bodyPr/>
                    <a:lstStyle/>
                    <a:p>
                      <a:pPr indent="0" lvl="0" marL="0" rtl="0" algn="ctr">
                        <a:lnSpc>
                          <a:spcPct val="115000"/>
                        </a:lnSpc>
                        <a:spcBef>
                          <a:spcPts val="0"/>
                        </a:spcBef>
                        <a:spcAft>
                          <a:spcPts val="1200"/>
                        </a:spcAft>
                        <a:buNone/>
                      </a:pPr>
                      <a:r>
                        <a:rPr lang="es" sz="2200">
                          <a:solidFill>
                            <a:schemeClr val="lt1"/>
                          </a:solidFill>
                          <a:latin typeface="Roboto"/>
                          <a:ea typeface="Roboto"/>
                          <a:cs typeface="Roboto"/>
                          <a:sym typeface="Roboto"/>
                        </a:rPr>
                        <a:t>Resolución</a:t>
                      </a:r>
                      <a:endParaRPr sz="2200">
                        <a:latin typeface="Roboto"/>
                        <a:ea typeface="Roboto"/>
                        <a:cs typeface="Roboto"/>
                        <a:sym typeface="Roboto"/>
                      </a:endParaRPr>
                    </a:p>
                  </a:txBody>
                  <a:tcPr marT="91425" marB="91425" marR="91425" marL="91425">
                    <a:gradFill>
                      <a:gsLst>
                        <a:gs pos="0">
                          <a:srgbClr val="1076D2"/>
                        </a:gs>
                        <a:gs pos="100000">
                          <a:srgbClr val="093053"/>
                        </a:gs>
                      </a:gsLst>
                      <a:lin ang="5400012" scaled="0"/>
                    </a:gradFill>
                  </a:tcPr>
                </a:tc>
              </a:tr>
              <a:tr h="1752800">
                <a:tc>
                  <a:txBody>
                    <a:bodyPr/>
                    <a:lstStyle/>
                    <a:p>
                      <a:pPr indent="0" lvl="0" marL="0" rtl="0" algn="l">
                        <a:lnSpc>
                          <a:spcPct val="115000"/>
                        </a:lnSpc>
                        <a:spcBef>
                          <a:spcPts val="0"/>
                        </a:spcBef>
                        <a:spcAft>
                          <a:spcPts val="1200"/>
                        </a:spcAft>
                        <a:buNone/>
                      </a:pPr>
                      <a:r>
                        <a:rPr lang="es">
                          <a:solidFill>
                            <a:schemeClr val="dk1"/>
                          </a:solidFill>
                          <a:latin typeface="Roboto"/>
                          <a:ea typeface="Roboto"/>
                          <a:cs typeface="Roboto"/>
                          <a:sym typeface="Roboto"/>
                        </a:rPr>
                        <a:t>Calidad y consistencia de los datos: </a:t>
                      </a:r>
                      <a:endParaRPr>
                        <a:solidFill>
                          <a:schemeClr val="dk1"/>
                        </a:solidFill>
                        <a:latin typeface="Roboto"/>
                        <a:ea typeface="Roboto"/>
                        <a:cs typeface="Roboto"/>
                        <a:sym typeface="Roboto"/>
                      </a:endParaRPr>
                    </a:p>
                  </a:txBody>
                  <a:tcPr marT="91425" marB="91425" marR="91425" marL="91425" anchor="ctr">
                    <a:gradFill>
                      <a:gsLst>
                        <a:gs pos="0">
                          <a:srgbClr val="FAFAFA"/>
                        </a:gs>
                        <a:gs pos="100000">
                          <a:srgbClr val="B9B9B9"/>
                        </a:gs>
                      </a:gsLst>
                      <a:lin ang="5400012" scaled="0"/>
                    </a:gradFill>
                  </a:tcPr>
                </a:tc>
                <a:tc>
                  <a:txBody>
                    <a:bodyPr/>
                    <a:lstStyle/>
                    <a:p>
                      <a:pPr indent="0" lvl="0" marL="0" rtl="0" algn="l">
                        <a:lnSpc>
                          <a:spcPct val="115000"/>
                        </a:lnSpc>
                        <a:spcBef>
                          <a:spcPts val="0"/>
                        </a:spcBef>
                        <a:spcAft>
                          <a:spcPts val="1200"/>
                        </a:spcAft>
                        <a:buNone/>
                      </a:pPr>
                      <a:r>
                        <a:rPr lang="es">
                          <a:solidFill>
                            <a:schemeClr val="lt1"/>
                          </a:solidFill>
                          <a:latin typeface="Roboto"/>
                          <a:ea typeface="Roboto"/>
                          <a:cs typeface="Roboto"/>
                          <a:sym typeface="Roboto"/>
                        </a:rPr>
                        <a:t>El dataset presentaba valores faltantes, algunos campos del dataset no tenían una descripción clara, lo que generaba dudas sobre su significado.</a:t>
                      </a:r>
                      <a:endParaRPr>
                        <a:latin typeface="Roboto"/>
                        <a:ea typeface="Roboto"/>
                        <a:cs typeface="Roboto"/>
                        <a:sym typeface="Roboto"/>
                      </a:endParaRPr>
                    </a:p>
                  </a:txBody>
                  <a:tcPr marT="91425" marB="91425" marR="91425" marL="91425"/>
                </a:tc>
                <a:tc>
                  <a:txBody>
                    <a:bodyPr/>
                    <a:lstStyle/>
                    <a:p>
                      <a:pPr indent="0" lvl="0" marL="0" rtl="0" algn="l">
                        <a:lnSpc>
                          <a:spcPct val="115000"/>
                        </a:lnSpc>
                        <a:spcBef>
                          <a:spcPts val="0"/>
                        </a:spcBef>
                        <a:spcAft>
                          <a:spcPts val="1200"/>
                        </a:spcAft>
                        <a:buNone/>
                      </a:pPr>
                      <a:r>
                        <a:rPr lang="es">
                          <a:solidFill>
                            <a:schemeClr val="lt1"/>
                          </a:solidFill>
                          <a:latin typeface="Roboto"/>
                          <a:ea typeface="Roboto"/>
                          <a:cs typeface="Roboto"/>
                          <a:sym typeface="Roboto"/>
                        </a:rPr>
                        <a:t>Identificamos valores faltantes y campos poco claros, documentando cada variable y consultando con el área de negocio para estandarizar criterios de análisis.</a:t>
                      </a:r>
                      <a:endParaRPr>
                        <a:latin typeface="Roboto"/>
                        <a:ea typeface="Roboto"/>
                        <a:cs typeface="Roboto"/>
                        <a:sym typeface="Roboto"/>
                      </a:endParaRPr>
                    </a:p>
                  </a:txBody>
                  <a:tcPr marT="91425" marB="91425" marR="91425" marL="91425"/>
                </a:tc>
              </a:tr>
              <a:tr h="1752800">
                <a:tc>
                  <a:txBody>
                    <a:bodyPr/>
                    <a:lstStyle/>
                    <a:p>
                      <a:pPr indent="0" lvl="0" marL="0" rtl="0" algn="l">
                        <a:lnSpc>
                          <a:spcPct val="115000"/>
                        </a:lnSpc>
                        <a:spcBef>
                          <a:spcPts val="0"/>
                        </a:spcBef>
                        <a:spcAft>
                          <a:spcPts val="1200"/>
                        </a:spcAft>
                        <a:buNone/>
                      </a:pPr>
                      <a:r>
                        <a:rPr lang="es">
                          <a:solidFill>
                            <a:schemeClr val="dk1"/>
                          </a:solidFill>
                          <a:latin typeface="Roboto"/>
                          <a:ea typeface="Roboto"/>
                          <a:cs typeface="Roboto"/>
                          <a:sym typeface="Roboto"/>
                        </a:rPr>
                        <a:t>Limitaciones de tiempo y carga de trabajo: </a:t>
                      </a:r>
                      <a:endParaRPr>
                        <a:solidFill>
                          <a:schemeClr val="dk1"/>
                        </a:solidFill>
                        <a:latin typeface="Roboto"/>
                        <a:ea typeface="Roboto"/>
                        <a:cs typeface="Roboto"/>
                        <a:sym typeface="Roboto"/>
                      </a:endParaRPr>
                    </a:p>
                  </a:txBody>
                  <a:tcPr marT="91425" marB="91425" marR="91425" marL="91425" anchor="ctr">
                    <a:gradFill>
                      <a:gsLst>
                        <a:gs pos="0">
                          <a:srgbClr val="FAFAFA"/>
                        </a:gs>
                        <a:gs pos="100000">
                          <a:srgbClr val="B9B9B9"/>
                        </a:gs>
                      </a:gsLst>
                      <a:lin ang="5400012" scaled="0"/>
                    </a:gradFill>
                  </a:tcPr>
                </a:tc>
                <a:tc>
                  <a:txBody>
                    <a:bodyPr/>
                    <a:lstStyle/>
                    <a:p>
                      <a:pPr indent="0" lvl="0" marL="0" rtl="0" algn="l">
                        <a:lnSpc>
                          <a:spcPct val="115000"/>
                        </a:lnSpc>
                        <a:spcBef>
                          <a:spcPts val="0"/>
                        </a:spcBef>
                        <a:spcAft>
                          <a:spcPts val="0"/>
                        </a:spcAft>
                        <a:buNone/>
                      </a:pPr>
                      <a:r>
                        <a:rPr lang="es">
                          <a:solidFill>
                            <a:schemeClr val="lt1"/>
                          </a:solidFill>
                          <a:latin typeface="Roboto"/>
                          <a:ea typeface="Roboto"/>
                          <a:cs typeface="Roboto"/>
                          <a:sym typeface="Roboto"/>
                        </a:rPr>
                        <a:t>La limpieza y exploración inicial tomaron más tiempo de lo esperado, afectando la planificación del modelado.</a:t>
                      </a:r>
                      <a:endParaRPr>
                        <a:solidFill>
                          <a:schemeClr val="lt1"/>
                        </a:solidFill>
                        <a:latin typeface="Roboto"/>
                        <a:ea typeface="Roboto"/>
                        <a:cs typeface="Roboto"/>
                        <a:sym typeface="Roboto"/>
                      </a:endParaRPr>
                    </a:p>
                    <a:p>
                      <a:pPr indent="0" lvl="0" marL="0" rtl="0" algn="l">
                        <a:lnSpc>
                          <a:spcPct val="115000"/>
                        </a:lnSpc>
                        <a:spcBef>
                          <a:spcPts val="1200"/>
                        </a:spcBef>
                        <a:spcAft>
                          <a:spcPts val="1200"/>
                        </a:spcAft>
                        <a:buNone/>
                      </a:pPr>
                      <a:r>
                        <a:t/>
                      </a:r>
                      <a:endParaRPr>
                        <a:solidFill>
                          <a:schemeClr val="lt1"/>
                        </a:solidFill>
                        <a:latin typeface="Roboto"/>
                        <a:ea typeface="Roboto"/>
                        <a:cs typeface="Roboto"/>
                        <a:sym typeface="Roboto"/>
                      </a:endParaRPr>
                    </a:p>
                  </a:txBody>
                  <a:tcPr marT="91425" marB="91425" marR="91425" marL="91425"/>
                </a:tc>
                <a:tc>
                  <a:txBody>
                    <a:bodyPr/>
                    <a:lstStyle/>
                    <a:p>
                      <a:pPr indent="0" lvl="0" marL="0" rtl="0" algn="l">
                        <a:lnSpc>
                          <a:spcPct val="115000"/>
                        </a:lnSpc>
                        <a:spcBef>
                          <a:spcPts val="0"/>
                        </a:spcBef>
                        <a:spcAft>
                          <a:spcPts val="1200"/>
                        </a:spcAft>
                        <a:buNone/>
                      </a:pPr>
                      <a:r>
                        <a:rPr lang="es">
                          <a:solidFill>
                            <a:schemeClr val="lt1"/>
                          </a:solidFill>
                          <a:latin typeface="Roboto"/>
                          <a:ea typeface="Roboto"/>
                          <a:cs typeface="Roboto"/>
                          <a:sym typeface="Roboto"/>
                        </a:rPr>
                        <a:t>Reorganizamos el cronograma, priorizamos tareas críticas y dividimos responsabilidades entre los miembros del equipo para agilizar la limpieza y exploración del dataset.</a:t>
                      </a:r>
                      <a:endParaRPr>
                        <a:solidFill>
                          <a:schemeClr val="lt1"/>
                        </a:solidFill>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412" name="Shape 412"/>
        <p:cNvGrpSpPr/>
        <p:nvPr/>
      </p:nvGrpSpPr>
      <p:grpSpPr>
        <a:xfrm>
          <a:off x="0" y="0"/>
          <a:ext cx="0" cy="0"/>
          <a:chOff x="0" y="0"/>
          <a:chExt cx="0" cy="0"/>
        </a:xfrm>
      </p:grpSpPr>
      <p:sp>
        <p:nvSpPr>
          <p:cNvPr id="413" name="Google Shape;413;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14" name="Google Shape;414;p38"/>
          <p:cNvSpPr/>
          <p:nvPr/>
        </p:nvSpPr>
        <p:spPr>
          <a:xfrm>
            <a:off x="0" y="606850"/>
            <a:ext cx="5312700" cy="669000"/>
          </a:xfrm>
          <a:prstGeom prst="homePlate">
            <a:avLst>
              <a:gd fmla="val 50000" name="adj"/>
            </a:avLst>
          </a:prstGeom>
          <a:solidFill>
            <a:srgbClr val="0942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Montserrat"/>
              <a:ea typeface="Montserrat"/>
              <a:cs typeface="Montserrat"/>
              <a:sym typeface="Montserrat"/>
            </a:endParaRPr>
          </a:p>
          <a:p>
            <a:pPr indent="0" lvl="0" marL="0" rtl="0" algn="ctr">
              <a:spcBef>
                <a:spcPts val="0"/>
              </a:spcBef>
              <a:spcAft>
                <a:spcPts val="0"/>
              </a:spcAft>
              <a:buNone/>
            </a:pPr>
            <a:r>
              <a:t/>
            </a:r>
            <a:endParaRPr>
              <a:solidFill>
                <a:srgbClr val="FFFFFF"/>
              </a:solidFill>
              <a:latin typeface="Roboto"/>
              <a:ea typeface="Roboto"/>
              <a:cs typeface="Roboto"/>
              <a:sym typeface="Roboto"/>
            </a:endParaRPr>
          </a:p>
        </p:txBody>
      </p:sp>
      <p:sp>
        <p:nvSpPr>
          <p:cNvPr id="415" name="Google Shape;415;p38"/>
          <p:cNvSpPr txBox="1"/>
          <p:nvPr/>
        </p:nvSpPr>
        <p:spPr>
          <a:xfrm>
            <a:off x="648150" y="709900"/>
            <a:ext cx="40164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1"/>
                </a:solidFill>
                <a:latin typeface="Roboto"/>
                <a:ea typeface="Roboto"/>
                <a:cs typeface="Roboto"/>
                <a:sym typeface="Roboto"/>
              </a:rPr>
              <a:t>CONCLUSIONES DEL PROYECTO</a:t>
            </a:r>
            <a:endParaRPr sz="1800">
              <a:solidFill>
                <a:schemeClr val="lt1"/>
              </a:solidFill>
              <a:latin typeface="Roboto"/>
              <a:ea typeface="Roboto"/>
              <a:cs typeface="Roboto"/>
              <a:sym typeface="Roboto"/>
            </a:endParaRPr>
          </a:p>
        </p:txBody>
      </p:sp>
      <p:sp>
        <p:nvSpPr>
          <p:cNvPr id="416" name="Google Shape;416;p38"/>
          <p:cNvSpPr txBox="1"/>
          <p:nvPr/>
        </p:nvSpPr>
        <p:spPr>
          <a:xfrm>
            <a:off x="208350" y="1275850"/>
            <a:ext cx="7720200" cy="1907100"/>
          </a:xfrm>
          <a:prstGeom prst="rect">
            <a:avLst/>
          </a:prstGeom>
          <a:noFill/>
          <a:ln>
            <a:noFill/>
          </a:ln>
        </p:spPr>
        <p:txBody>
          <a:bodyPr anchorCtr="0" anchor="t" bIns="91425" lIns="91425" spcFirstLastPara="1" rIns="91425" wrap="square" tIns="91425">
            <a:noAutofit/>
          </a:bodyPr>
          <a:lstStyle/>
          <a:p>
            <a:pPr indent="-311150" lvl="0" marL="457200" rtl="0" algn="just">
              <a:lnSpc>
                <a:spcPct val="115000"/>
              </a:lnSpc>
              <a:spcBef>
                <a:spcPts val="0"/>
              </a:spcBef>
              <a:spcAft>
                <a:spcPts val="0"/>
              </a:spcAft>
              <a:buClr>
                <a:schemeClr val="lt1"/>
              </a:buClr>
              <a:buSzPts val="1300"/>
              <a:buFont typeface="Lato"/>
              <a:buChar char="●"/>
            </a:pPr>
            <a:r>
              <a:rPr lang="es" sz="1300">
                <a:solidFill>
                  <a:schemeClr val="lt1"/>
                </a:solidFill>
                <a:latin typeface="Lato"/>
                <a:ea typeface="Lato"/>
                <a:cs typeface="Lato"/>
                <a:sym typeface="Lato"/>
              </a:rPr>
              <a:t> </a:t>
            </a:r>
            <a:r>
              <a:rPr lang="es" sz="1300">
                <a:solidFill>
                  <a:schemeClr val="lt1"/>
                </a:solidFill>
                <a:latin typeface="Roboto"/>
                <a:ea typeface="Roboto"/>
                <a:cs typeface="Roboto"/>
                <a:sym typeface="Roboto"/>
              </a:rPr>
              <a:t>El número de usuarios ha ido incrementando con el tiempo, mostrando un crecimiento positivo en la captación de clientes.</a:t>
            </a:r>
            <a:endParaRPr sz="1300">
              <a:solidFill>
                <a:schemeClr val="lt1"/>
              </a:solidFill>
              <a:latin typeface="Roboto"/>
              <a:ea typeface="Roboto"/>
              <a:cs typeface="Roboto"/>
              <a:sym typeface="Roboto"/>
            </a:endParaRPr>
          </a:p>
          <a:p>
            <a:pPr indent="-311150" lvl="0" marL="457200" rtl="0" algn="just">
              <a:lnSpc>
                <a:spcPct val="115000"/>
              </a:lnSpc>
              <a:spcBef>
                <a:spcPts val="0"/>
              </a:spcBef>
              <a:spcAft>
                <a:spcPts val="0"/>
              </a:spcAft>
              <a:buClr>
                <a:schemeClr val="lt1"/>
              </a:buClr>
              <a:buSzPts val="1300"/>
              <a:buFont typeface="Roboto"/>
              <a:buChar char="●"/>
            </a:pPr>
            <a:r>
              <a:rPr lang="es" sz="1300">
                <a:solidFill>
                  <a:schemeClr val="lt1"/>
                </a:solidFill>
                <a:latin typeface="Roboto"/>
                <a:ea typeface="Roboto"/>
                <a:cs typeface="Roboto"/>
                <a:sym typeface="Roboto"/>
              </a:rPr>
              <a:t>Sin embargo, el LTV (Lifetime Value) de los usuarios no ha mostrado un crecimiento proporcional, lo que indica que los ingresos por usuario no están aumentando al mismo ritmo que la base de clientes.</a:t>
            </a:r>
            <a:endParaRPr sz="1300">
              <a:solidFill>
                <a:schemeClr val="lt1"/>
              </a:solidFill>
              <a:latin typeface="Roboto"/>
              <a:ea typeface="Roboto"/>
              <a:cs typeface="Roboto"/>
              <a:sym typeface="Roboto"/>
            </a:endParaRPr>
          </a:p>
          <a:p>
            <a:pPr indent="-311150" lvl="0" marL="457200" rtl="0" algn="just">
              <a:lnSpc>
                <a:spcPct val="115000"/>
              </a:lnSpc>
              <a:spcBef>
                <a:spcPts val="0"/>
              </a:spcBef>
              <a:spcAft>
                <a:spcPts val="0"/>
              </a:spcAft>
              <a:buClr>
                <a:schemeClr val="lt1"/>
              </a:buClr>
              <a:buSzPts val="1300"/>
              <a:buFont typeface="Roboto"/>
              <a:buChar char="●"/>
            </a:pPr>
            <a:r>
              <a:rPr lang="es" sz="1300">
                <a:solidFill>
                  <a:schemeClr val="lt1"/>
                </a:solidFill>
                <a:latin typeface="Roboto"/>
                <a:ea typeface="Roboto"/>
                <a:cs typeface="Roboto"/>
                <a:sym typeface="Roboto"/>
              </a:rPr>
              <a:t>La frecuencia de uso ha disminuido en los tres últimos meses. </a:t>
            </a:r>
            <a:endParaRPr sz="1300">
              <a:solidFill>
                <a:schemeClr val="lt1"/>
              </a:solidFill>
              <a:latin typeface="Roboto"/>
              <a:ea typeface="Roboto"/>
              <a:cs typeface="Roboto"/>
              <a:sym typeface="Roboto"/>
            </a:endParaRPr>
          </a:p>
          <a:p>
            <a:pPr indent="-311150" lvl="0" marL="457200" rtl="0" algn="just">
              <a:lnSpc>
                <a:spcPct val="115000"/>
              </a:lnSpc>
              <a:spcBef>
                <a:spcPts val="0"/>
              </a:spcBef>
              <a:spcAft>
                <a:spcPts val="0"/>
              </a:spcAft>
              <a:buClr>
                <a:schemeClr val="lt1"/>
              </a:buClr>
              <a:buSzPts val="1300"/>
              <a:buFont typeface="Roboto"/>
              <a:buChar char="●"/>
            </a:pPr>
            <a:r>
              <a:rPr lang="es" sz="1300">
                <a:solidFill>
                  <a:schemeClr val="lt1"/>
                </a:solidFill>
                <a:latin typeface="Roboto"/>
                <a:ea typeface="Roboto"/>
                <a:cs typeface="Roboto"/>
                <a:sym typeface="Roboto"/>
              </a:rPr>
              <a:t>Las incidencias se disparan a final de año. </a:t>
            </a:r>
            <a:endParaRPr sz="1300">
              <a:solidFill>
                <a:schemeClr val="lt1"/>
              </a:solidFill>
              <a:latin typeface="Roboto"/>
              <a:ea typeface="Roboto"/>
              <a:cs typeface="Roboto"/>
              <a:sym typeface="Roboto"/>
            </a:endParaRPr>
          </a:p>
        </p:txBody>
      </p:sp>
      <p:sp>
        <p:nvSpPr>
          <p:cNvPr id="417" name="Google Shape;417;p38"/>
          <p:cNvSpPr/>
          <p:nvPr/>
        </p:nvSpPr>
        <p:spPr>
          <a:xfrm rot="10800000">
            <a:off x="3831300" y="2842672"/>
            <a:ext cx="5312700" cy="669000"/>
          </a:xfrm>
          <a:prstGeom prst="homePlate">
            <a:avLst>
              <a:gd fmla="val 50000" name="adj"/>
            </a:avLst>
          </a:prstGeom>
          <a:solidFill>
            <a:srgbClr val="6D9E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Montserrat"/>
              <a:ea typeface="Montserrat"/>
              <a:cs typeface="Montserrat"/>
              <a:sym typeface="Montserrat"/>
            </a:endParaRPr>
          </a:p>
          <a:p>
            <a:pPr indent="0" lvl="0" marL="0" rtl="0" algn="ctr">
              <a:spcBef>
                <a:spcPts val="0"/>
              </a:spcBef>
              <a:spcAft>
                <a:spcPts val="0"/>
              </a:spcAft>
              <a:buNone/>
            </a:pPr>
            <a:r>
              <a:t/>
            </a:r>
            <a:endParaRPr>
              <a:solidFill>
                <a:srgbClr val="FFFFFF"/>
              </a:solidFill>
              <a:latin typeface="Roboto"/>
              <a:ea typeface="Roboto"/>
              <a:cs typeface="Roboto"/>
              <a:sym typeface="Roboto"/>
            </a:endParaRPr>
          </a:p>
        </p:txBody>
      </p:sp>
      <p:sp>
        <p:nvSpPr>
          <p:cNvPr id="418" name="Google Shape;418;p38"/>
          <p:cNvSpPr txBox="1"/>
          <p:nvPr/>
        </p:nvSpPr>
        <p:spPr>
          <a:xfrm>
            <a:off x="5145000" y="2979947"/>
            <a:ext cx="2685300" cy="462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1800">
                <a:solidFill>
                  <a:schemeClr val="lt1"/>
                </a:solidFill>
                <a:latin typeface="Roboto"/>
                <a:ea typeface="Roboto"/>
                <a:cs typeface="Roboto"/>
                <a:sym typeface="Roboto"/>
              </a:rPr>
              <a:t>RECOMENDACIONES</a:t>
            </a:r>
            <a:endParaRPr sz="1800">
              <a:solidFill>
                <a:schemeClr val="lt1"/>
              </a:solidFill>
              <a:latin typeface="Roboto"/>
              <a:ea typeface="Roboto"/>
              <a:cs typeface="Roboto"/>
              <a:sym typeface="Roboto"/>
            </a:endParaRPr>
          </a:p>
        </p:txBody>
      </p:sp>
      <p:sp>
        <p:nvSpPr>
          <p:cNvPr id="419" name="Google Shape;419;p38"/>
          <p:cNvSpPr txBox="1"/>
          <p:nvPr/>
        </p:nvSpPr>
        <p:spPr>
          <a:xfrm>
            <a:off x="1655175" y="3565000"/>
            <a:ext cx="7037400" cy="1225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 sz="1300">
                <a:solidFill>
                  <a:schemeClr val="lt1"/>
                </a:solidFill>
                <a:latin typeface="Lato"/>
                <a:ea typeface="Lato"/>
                <a:cs typeface="Lato"/>
                <a:sym typeface="Lato"/>
              </a:rPr>
              <a:t>Para maximizar los beneficios, sugerimos implementar estrategias enfocadas en retención y monetización de usuarios existentes, como programas de fidelización, incentivos por uso recurrente o campañas personalizadas para aumentar el LTV, además de mantener la calidad y consistencia de los datos para futuros análisis. </a:t>
            </a:r>
            <a:endParaRPr sz="1300">
              <a:solidFill>
                <a:schemeClr val="lt1"/>
              </a:solidFill>
              <a:latin typeface="Lato"/>
              <a:ea typeface="Lato"/>
              <a:cs typeface="Lato"/>
              <a:sym typeface="Lato"/>
            </a:endParaRPr>
          </a:p>
          <a:p>
            <a:pPr indent="0" lvl="0" marL="0" rtl="0" algn="just">
              <a:spcBef>
                <a:spcPts val="120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423" name="Shape 423"/>
        <p:cNvGrpSpPr/>
        <p:nvPr/>
      </p:nvGrpSpPr>
      <p:grpSpPr>
        <a:xfrm>
          <a:off x="0" y="0"/>
          <a:ext cx="0" cy="0"/>
          <a:chOff x="0" y="0"/>
          <a:chExt cx="0" cy="0"/>
        </a:xfrm>
      </p:grpSpPr>
      <p:sp>
        <p:nvSpPr>
          <p:cNvPr id="424" name="Google Shape;424;p39"/>
          <p:cNvSpPr txBox="1"/>
          <p:nvPr>
            <p:ph type="title"/>
          </p:nvPr>
        </p:nvSpPr>
        <p:spPr>
          <a:xfrm>
            <a:off x="1297500" y="609475"/>
            <a:ext cx="5149500" cy="68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latin typeface="Roboto"/>
                <a:ea typeface="Roboto"/>
                <a:cs typeface="Roboto"/>
                <a:sym typeface="Roboto"/>
              </a:rPr>
              <a:t>GESTI</a:t>
            </a:r>
            <a:r>
              <a:rPr lang="es">
                <a:latin typeface="Roboto"/>
                <a:ea typeface="Roboto"/>
                <a:cs typeface="Roboto"/>
                <a:sym typeface="Roboto"/>
              </a:rPr>
              <a:t>ÓN DEL EQUIPO</a:t>
            </a:r>
            <a:endParaRPr>
              <a:latin typeface="Roboto"/>
              <a:ea typeface="Roboto"/>
              <a:cs typeface="Roboto"/>
              <a:sym typeface="Roboto"/>
            </a:endParaRPr>
          </a:p>
        </p:txBody>
      </p:sp>
      <p:sp>
        <p:nvSpPr>
          <p:cNvPr id="425" name="Google Shape;425;p39"/>
          <p:cNvSpPr txBox="1"/>
          <p:nvPr>
            <p:ph idx="1" type="body"/>
          </p:nvPr>
        </p:nvSpPr>
        <p:spPr>
          <a:xfrm>
            <a:off x="1343800" y="1579125"/>
            <a:ext cx="7038900" cy="2911200"/>
          </a:xfrm>
          <a:prstGeom prst="rect">
            <a:avLst/>
          </a:prstGeom>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Font typeface="Roboto"/>
              <a:buChar char="✔"/>
            </a:pPr>
            <a:r>
              <a:rPr lang="es" sz="1400">
                <a:latin typeface="Roboto"/>
                <a:ea typeface="Roboto"/>
                <a:cs typeface="Roboto"/>
                <a:sym typeface="Roboto"/>
              </a:rPr>
              <a:t>E</a:t>
            </a:r>
            <a:r>
              <a:rPr lang="es" sz="1400">
                <a:latin typeface="Roboto"/>
                <a:ea typeface="Roboto"/>
                <a:cs typeface="Roboto"/>
                <a:sym typeface="Roboto"/>
              </a:rPr>
              <a:t>l equipo inició trabajando en conjunto para comprender el dataset y discutir su estructura.</a:t>
            </a:r>
            <a:endParaRPr sz="1400">
              <a:latin typeface="Roboto"/>
              <a:ea typeface="Roboto"/>
              <a:cs typeface="Roboto"/>
              <a:sym typeface="Roboto"/>
            </a:endParaRPr>
          </a:p>
          <a:p>
            <a:pPr indent="-317500" lvl="0" marL="457200" rtl="0" algn="l">
              <a:lnSpc>
                <a:spcPct val="115000"/>
              </a:lnSpc>
              <a:spcBef>
                <a:spcPts val="100"/>
              </a:spcBef>
              <a:spcAft>
                <a:spcPts val="0"/>
              </a:spcAft>
              <a:buSzPts val="1400"/>
              <a:buFont typeface="Roboto"/>
              <a:buChar char="✔"/>
            </a:pPr>
            <a:r>
              <a:rPr lang="es" sz="1400">
                <a:latin typeface="Roboto"/>
                <a:ea typeface="Roboto"/>
                <a:cs typeface="Roboto"/>
                <a:sym typeface="Roboto"/>
              </a:rPr>
              <a:t>Todos aportamos ideas sobre las variables más relevantes, su interpretación y cómo analizarlas.</a:t>
            </a:r>
            <a:endParaRPr sz="1400">
              <a:latin typeface="Roboto"/>
              <a:ea typeface="Roboto"/>
              <a:cs typeface="Roboto"/>
              <a:sym typeface="Roboto"/>
            </a:endParaRPr>
          </a:p>
          <a:p>
            <a:pPr indent="-317500" lvl="0" marL="457200" rtl="0" algn="l">
              <a:lnSpc>
                <a:spcPct val="115000"/>
              </a:lnSpc>
              <a:spcBef>
                <a:spcPts val="100"/>
              </a:spcBef>
              <a:spcAft>
                <a:spcPts val="0"/>
              </a:spcAft>
              <a:buSzPts val="1400"/>
              <a:buFont typeface="Roboto"/>
              <a:buChar char="✔"/>
            </a:pPr>
            <a:r>
              <a:rPr lang="es" sz="1400">
                <a:latin typeface="Roboto"/>
                <a:ea typeface="Roboto"/>
                <a:cs typeface="Roboto"/>
                <a:sym typeface="Roboto"/>
              </a:rPr>
              <a:t>Llegamos a un acuerdo común sobre la metodología de trabajo y los criterios de análisis.</a:t>
            </a:r>
            <a:endParaRPr sz="1400">
              <a:latin typeface="Roboto"/>
              <a:ea typeface="Roboto"/>
              <a:cs typeface="Roboto"/>
              <a:sym typeface="Roboto"/>
            </a:endParaRPr>
          </a:p>
          <a:p>
            <a:pPr indent="-317500" lvl="0" marL="457200" rtl="0" algn="l">
              <a:lnSpc>
                <a:spcPct val="115000"/>
              </a:lnSpc>
              <a:spcBef>
                <a:spcPts val="100"/>
              </a:spcBef>
              <a:spcAft>
                <a:spcPts val="0"/>
              </a:spcAft>
              <a:buSzPts val="1400"/>
              <a:buFont typeface="Roboto"/>
              <a:buChar char="✔"/>
            </a:pPr>
            <a:r>
              <a:rPr lang="es" sz="1400">
                <a:latin typeface="Roboto"/>
                <a:ea typeface="Roboto"/>
                <a:cs typeface="Roboto"/>
                <a:sym typeface="Roboto"/>
              </a:rPr>
              <a:t>En la etapa final, dividimos las tareas para agilizar el proceso y aprovechar las fortalezas individuales.</a:t>
            </a:r>
            <a:endParaRPr sz="1400">
              <a:latin typeface="Roboto"/>
              <a:ea typeface="Roboto"/>
              <a:cs typeface="Roboto"/>
              <a:sym typeface="Roboto"/>
            </a:endParaRPr>
          </a:p>
          <a:p>
            <a:pPr indent="-317500" lvl="0" marL="457200" rtl="0" algn="l">
              <a:lnSpc>
                <a:spcPct val="115000"/>
              </a:lnSpc>
              <a:spcBef>
                <a:spcPts val="100"/>
              </a:spcBef>
              <a:spcAft>
                <a:spcPts val="100"/>
              </a:spcAft>
              <a:buSzPts val="1400"/>
              <a:buFont typeface="Roboto"/>
              <a:buChar char="✔"/>
            </a:pPr>
            <a:r>
              <a:rPr lang="es" sz="1400">
                <a:latin typeface="Roboto"/>
                <a:ea typeface="Roboto"/>
                <a:cs typeface="Roboto"/>
                <a:sym typeface="Roboto"/>
              </a:rPr>
              <a:t>Finalmente, unificamos esfuerzos para preparar la presentación y asegurar coherencia en los resultados.</a:t>
            </a:r>
            <a:endParaRPr sz="1400">
              <a:latin typeface="Roboto"/>
              <a:ea typeface="Roboto"/>
              <a:cs typeface="Roboto"/>
              <a:sym typeface="Roboto"/>
            </a:endParaRPr>
          </a:p>
        </p:txBody>
      </p:sp>
      <p:sp>
        <p:nvSpPr>
          <p:cNvPr id="426" name="Google Shape;426;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430" name="Shape 430"/>
        <p:cNvGrpSpPr/>
        <p:nvPr/>
      </p:nvGrpSpPr>
      <p:grpSpPr>
        <a:xfrm>
          <a:off x="0" y="0"/>
          <a:ext cx="0" cy="0"/>
          <a:chOff x="0" y="0"/>
          <a:chExt cx="0" cy="0"/>
        </a:xfrm>
      </p:grpSpPr>
      <p:sp>
        <p:nvSpPr>
          <p:cNvPr id="431" name="Google Shape;431;p40"/>
          <p:cNvSpPr txBox="1"/>
          <p:nvPr>
            <p:ph type="title"/>
          </p:nvPr>
        </p:nvSpPr>
        <p:spPr>
          <a:xfrm>
            <a:off x="823850" y="2053000"/>
            <a:ext cx="4587000" cy="1148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 sz="4500">
                <a:latin typeface="Roboto"/>
                <a:ea typeface="Roboto"/>
                <a:cs typeface="Roboto"/>
                <a:sym typeface="Roboto"/>
              </a:rPr>
              <a:t>¡Gracias por su tiempo!</a:t>
            </a:r>
            <a:endParaRPr sz="4500">
              <a:latin typeface="Roboto"/>
              <a:ea typeface="Roboto"/>
              <a:cs typeface="Roboto"/>
              <a:sym typeface="Roboto"/>
            </a:endParaRPr>
          </a:p>
        </p:txBody>
      </p:sp>
      <p:sp>
        <p:nvSpPr>
          <p:cNvPr id="432" name="Google Shape;43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